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cbd78b51bc4ea4" /><Relationship Type="http://schemas.openxmlformats.org/officeDocument/2006/relationships/extended-properties" Target="/docProps/app.xml" Id="R356755a60025442f" /><Relationship Type="http://schemas.openxmlformats.org/officeDocument/2006/relationships/officeDocument" Target="/ppt/presentation.xml" Id="Re9ef1e1337f348b0" /></Relationships>
</file>

<file path=ppt/presentation.xml><?xml version="1.0" encoding="utf-8"?>
<p:presentation xmlns:p="http://schemas.openxmlformats.org/presentationml/2006/main">
  <p:sldMasterIdLst>
    <p:sldMasterId xmlns:r="http://schemas.openxmlformats.org/officeDocument/2006/relationships" id="2147483648" r:id="R931e604ea355494d"/>
  </p:sldMasterIdLst>
  <p:notesMasterIdLst>
    <p:notesMasterId xmlns:r="http://schemas.openxmlformats.org/officeDocument/2006/relationships" r:id="R21f1ea0c630b49f4"/>
  </p:notesMasterIdLst>
  <p:sldIdLst>
    <p:sldId xmlns:r="http://schemas.openxmlformats.org/officeDocument/2006/relationships" id="256" r:id="R16f7169784364638"/>
    <p:sldId xmlns:r="http://schemas.openxmlformats.org/officeDocument/2006/relationships" id="257" r:id="R348846bf97ab406f"/>
    <p:sldId xmlns:r="http://schemas.openxmlformats.org/officeDocument/2006/relationships" id="258" r:id="R866b365688e54f85"/>
    <p:sldId xmlns:r="http://schemas.openxmlformats.org/officeDocument/2006/relationships" id="259" r:id="Rd8b530ed9a714390"/>
    <p:sldId xmlns:r="http://schemas.openxmlformats.org/officeDocument/2006/relationships" id="260" r:id="Rcaa0b2a1b7c14a75"/>
    <p:sldId xmlns:r="http://schemas.openxmlformats.org/officeDocument/2006/relationships" id="261" r:id="R624bbb4f88e140bb"/>
    <p:sldId xmlns:r="http://schemas.openxmlformats.org/officeDocument/2006/relationships" id="262" r:id="R06ae99a8f673484b"/>
    <p:sldId xmlns:r="http://schemas.openxmlformats.org/officeDocument/2006/relationships" id="263" r:id="Ref1c0163b71d47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02b5bc727049e1" /><Relationship Type="http://schemas.openxmlformats.org/officeDocument/2006/relationships/slideMaster" Target="/ppt/slideMasters/slideMaster1.xml" Id="R931e604ea355494d" /><Relationship Type="http://schemas.openxmlformats.org/officeDocument/2006/relationships/notesMaster" Target="/ppt/notesMasters/notesMaster1.xml" Id="R21f1ea0c630b49f4" /><Relationship Type="http://schemas.openxmlformats.org/officeDocument/2006/relationships/presProps" Target="/ppt/presProps.xml" Id="R165b4af065914c00" /><Relationship Type="http://schemas.openxmlformats.org/officeDocument/2006/relationships/tableStyles" Target="/ppt/tableStyles.xml" Id="Rf08d3d37ad0d4b66" /><Relationship Type="http://schemas.openxmlformats.org/officeDocument/2006/relationships/slide" Target="/ppt/slides/slide1.xml" Id="R16f7169784364638" /><Relationship Type="http://schemas.openxmlformats.org/officeDocument/2006/relationships/slide" Target="/ppt/slides/slide2.xml" Id="R348846bf97ab406f" /><Relationship Type="http://schemas.openxmlformats.org/officeDocument/2006/relationships/slide" Target="/ppt/slides/slide3.xml" Id="R866b365688e54f85" /><Relationship Type="http://schemas.openxmlformats.org/officeDocument/2006/relationships/slide" Target="/ppt/slides/slide4.xml" Id="Rd8b530ed9a714390" /><Relationship Type="http://schemas.openxmlformats.org/officeDocument/2006/relationships/slide" Target="/ppt/slides/slide5.xml" Id="Rcaa0b2a1b7c14a75" /><Relationship Type="http://schemas.openxmlformats.org/officeDocument/2006/relationships/slide" Target="/ppt/slides/slide6.xml" Id="R624bbb4f88e140bb" /><Relationship Type="http://schemas.openxmlformats.org/officeDocument/2006/relationships/slide" Target="/ppt/slides/slide7.xml" Id="R06ae99a8f673484b" /><Relationship Type="http://schemas.openxmlformats.org/officeDocument/2006/relationships/slide" Target="/ppt/slides/slide8.xml" Id="Ref1c0163b71d47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ac7dc83dee4b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5c7ef813bd4cd5" /><Relationship Type="http://schemas.openxmlformats.org/officeDocument/2006/relationships/notesMaster" Target="/ppt/notesMasters/notesMaster1.xml" Id="Rced22afcd54c4f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c74a56bad94aa5" /><Relationship Type="http://schemas.openxmlformats.org/officeDocument/2006/relationships/notesMaster" Target="/ppt/notesMasters/notesMaster1.xml" Id="Reec3f093521b4c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521a5197414ba4" /><Relationship Type="http://schemas.openxmlformats.org/officeDocument/2006/relationships/notesMaster" Target="/ppt/notesMasters/notesMaster1.xml" Id="R1b04f0e144034f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57593b657f460c" /><Relationship Type="http://schemas.openxmlformats.org/officeDocument/2006/relationships/notesMaster" Target="/ppt/notesMasters/notesMaster1.xml" Id="Rad7aaf831c5f43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679d86bc9545eb" /><Relationship Type="http://schemas.openxmlformats.org/officeDocument/2006/relationships/notesMaster" Target="/ppt/notesMasters/notesMaster1.xml" Id="Re11a00b724d64d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08e04bb6414f40" /><Relationship Type="http://schemas.openxmlformats.org/officeDocument/2006/relationships/notesMaster" Target="/ppt/notesMasters/notesMaster1.xml" Id="R5cfc86b56a1e4b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d5342f83bd49c2" /><Relationship Type="http://schemas.openxmlformats.org/officeDocument/2006/relationships/notesMaster" Target="/ppt/notesMasters/notesMaster1.xml" Id="R908d5e113f3a40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1125fa9c464c2f" /><Relationship Type="http://schemas.openxmlformats.org/officeDocument/2006/relationships/notesMaster" Target="/ppt/notesMasters/notesMaster1.xml" Id="Rc896865a4e3944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p>
          <a:p xmlns:a="http://schemas.openxmlformats.org/drawingml/2006/main">
            <a:r>
              <a:t>Today I will present my loan default prediction project using the Home Credit dataset. The aim is to estimate an applicant’s risk of repayment difficulty from their application information and credit history. I built a pipeline that prepares the data, compares three classification models and evaluates their performance on a separate holdout set. The output is a risk score that can support lending decisions. A lending policy would also need to consider the financial cost of mistakes.</a:t>
            </a:r>
          </a:p>
          <a:p xmlns:a="http://schemas.openxmlformats.org/drawingml/2006/main">
            <a:r>
              <a:t/>
            </a:r>
          </a:p>
          <a:p xmlns:a="http://schemas.openxmlformats.org/drawingml/2006/main">
            <a:r>
              <a:t>中文理解：介绍项目：用申请信息与历史信贷记录预测还款困难风险。完整流程包括数据处理、模型比较和独立评估。风险分数可以辅助决策，实际放贷还需考虑错误的经济成本。</a:t>
            </a:r>
          </a:p>
          <a:p xmlns:a="http://schemas.openxmlformats.org/drawingml/2006/main">
            <a:r>
              <a:t/>
            </a:r>
          </a:p>
          <a:p xmlns:a="http://schemas.openxmlformats.org/drawingml/2006/main">
            <a:r>
              <a:t>Source: main.py, saved 16 October 2026. Execution metrics and comparison supplied by the user in this conversation. Historical-table use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0:35–1:30</a:t>
            </a:r>
          </a:p>
          <a:p xmlns:a="http://schemas.openxmlformats.org/drawingml/2006/main">
            <a:r>
              <a:t>The labelled dataset contains 307,511 applicants, with a positive outcome rate of about 8.07 percent. The reported model uses 126 input features before encoding. The main table contains one row per applicant. TARGET supplies the outcome, while SK_ID_CURR identifies applicants. The code also supports historical tables, summarized by applicant using means, maxima, minima and record counts. However, I have not yet confirmed whether historical aggregation was enabled for this particular run, so I do not attribute these results to historical features. The separate Kaggle application test file has no labels, so I cannot calculate its AUC locally.</a:t>
            </a:r>
          </a:p>
          <a:p xmlns:a="http://schemas.openxmlformats.org/drawingml/2006/main">
            <a:r>
              <a:t/>
            </a:r>
          </a:p>
          <a:p xmlns:a="http://schemas.openxmlformats.org/drawingml/2006/main">
            <a:r>
              <a:t>中文理解：真实运行：307,511 人，违约比例 8.07%，编码前 126 个特征。历史聚合是代码支持的可选功能，本次是否启用尚未确认，不能声称这些结果使用了历史表。</a:t>
            </a:r>
          </a:p>
          <a:p xmlns:a="http://schemas.openxmlformats.org/drawingml/2006/main">
            <a:r>
              <a:t/>
            </a:r>
          </a:p>
          <a:p xmlns:a="http://schemas.openxmlformats.org/drawingml/2006/main">
            <a:r>
              <a:t>Source: main.py, saved 16 October 2026. Execution metrics and comparison supplied by the user in this conversation. Historical-table use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1:30–2:40</a:t>
            </a:r>
          </a:p>
          <a:p xmlns:a="http://schemas.openxmlformats.org/drawingml/2006/main">
            <a:r>
              <a:t>I create ratios to express financial pressure more directly. For example, the credit to income ratio distinguishes two applicants with the same loan amount but different incomes. I also calculate annuity ratios and the mean of available external scores. A special employment value, 365243, is replaced with missing data, while a separate indicator preserves the fact that the special value occurred. The preprocessing pipeline fills numeric missing values with medians, scales numeric variables and encodes categorical variables using one hot encoding. Crucially, each training fold fits its own preprocessing steps. This prevents validation observations from influencing the fitted medians and scaling parameters.</a:t>
            </a:r>
          </a:p>
          <a:p xmlns:a="http://schemas.openxmlformats.org/drawingml/2006/main">
            <a:r>
              <a:t/>
            </a:r>
          </a:p>
          <a:p xmlns:a="http://schemas.openxmlformats.org/drawingml/2006/main">
            <a:r>
              <a:t>中文理解：重点举贷款／收入比的例子。处理 365243 时，同时替换成缺失并保留标记。数值中位数填补、标准化，类别 Missing 填补并 one-hot。预处理只在每折训练部分拟合，避免验证信息进入训练。</a:t>
            </a:r>
          </a:p>
          <a:p xmlns:a="http://schemas.openxmlformats.org/drawingml/2006/main">
            <a:r>
              <a:t/>
            </a:r>
          </a:p>
          <a:p xmlns:a="http://schemas.openxmlformats.org/drawingml/2006/main">
            <a:r>
              <a:t>Source: main.py, saved 16 October 2026. Execution metrics and comparison supplied by the user in this conversation. Historical-table use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2:40–3:35</a:t>
            </a:r>
          </a:p>
          <a:p xmlns:a="http://schemas.openxmlformats.org/drawingml/2006/main">
            <a:r>
              <a:t>I compare logistic regression, random forest and LightGBM using the same data split and preprocessing structure. Logistic regression provides a simple baseline with a linear score before the probability transformation. Random forest averages predictions from many randomized trees and can capture nonlinear relationships. LightGBM adds trees sequentially to improve the current model by reducing classification loss. I use a small grid search rather than assuming that the most complex model will perform best. The search varies regularization for logistic regression, tree depth for random forest, and the number of leaves and regularization for LightGBM.</a:t>
            </a:r>
          </a:p>
          <a:p xmlns:a="http://schemas.openxmlformats.org/drawingml/2006/main">
            <a:r>
              <a:t/>
            </a:r>
          </a:p>
          <a:p xmlns:a="http://schemas.openxmlformats.org/drawingml/2006/main">
            <a:r>
              <a:t>中文理解：Logistic 是简单基准，Random Forest 综合多棵随机树，LightGBM 逐步加树降低损失。用同样划分比较，网格搜索参数，不能预先认定最复杂的模型最好。</a:t>
            </a:r>
          </a:p>
          <a:p xmlns:a="http://schemas.openxmlformats.org/drawingml/2006/main">
            <a:r>
              <a:t/>
            </a:r>
          </a:p>
          <a:p xmlns:a="http://schemas.openxmlformats.org/drawingml/2006/main">
            <a:r>
              <a:t>Source: main.py, saved 16 October 2026. Execution metrics and comparison supplied by the user in this conversation. Historical-table use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3:35–4:45</a:t>
            </a:r>
          </a:p>
          <a:p xmlns:a="http://schemas.openxmlformats.org/drawingml/2006/main">
            <a:r>
              <a:t>I first reserve twenty percent of the labelled applicants as a stratified holdout set. The remaining eighty percent forms the development set. Within development data, stratified cross validation compares parameter settings, with three folds by default. I select the model with the highest development cross validation AUC. I then generate out of fold predictions and choose the threshold that maximizes F1. These predictions come from models that did not train on the corresponding observation, although the same development data also influenced parameter selection. Therefore, these scores can still be optimistic. The holdout remains separate from model, parameter and threshold selection and provides the final evaluation.</a:t>
            </a:r>
          </a:p>
          <a:p xmlns:a="http://schemas.openxmlformats.org/drawingml/2006/main">
            <a:r>
              <a:t/>
            </a:r>
          </a:p>
          <a:p xmlns:a="http://schemas.openxmlformats.org/drawingml/2006/main">
            <a:r>
              <a:t>中文理解：先留 20% 独立评估，80% 内默认三折 CV。按 CV AUC 选模型，OOF 上按 F1 选阈值。OOF 仍受调参影响，并非完全独立评估。holdout 不参与模型、参数和阈值选择。</a:t>
            </a:r>
          </a:p>
          <a:p xmlns:a="http://schemas.openxmlformats.org/drawingml/2006/main">
            <a:r>
              <a:t/>
            </a:r>
          </a:p>
          <a:p xmlns:a="http://schemas.openxmlformats.org/drawingml/2006/main">
            <a:r>
              <a:t>Source: main.py, saved 16 October 2026. Execution metrics and comparison supplied by the user in this conversation. Historical-table use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4:45–6:10</a:t>
            </a:r>
          </a:p>
          <a:p xmlns:a="http://schemas.openxmlformats.org/drawingml/2006/main">
            <a:r>
              <a:t>LightGBM achieved the highest development cross validation AUC, at 0.7607, so the pipeline selected it before examining the holdout results. Its holdout AUC was 0.7649, compared with 0.7521 for logistic regression and 0.7443 for random forest. This is an absolute improvement of about 0.0128 over logistic regression. The similar CV and holdout scores provide no obvious sign of a large performance drop in this split, although they do not prove that overfitting is absent. At the development-selected threshold of 0.1563, precision was 25.67 percent and recall was 41.41 percent. This means the model identified around forty-one out of every hundred positive cases, while only around twenty-six out of every hundred flagged applicants were positive. Therefore, both missed cases and false alarms remain substantial.</a:t>
            </a:r>
          </a:p>
          <a:p xmlns:a="http://schemas.openxmlformats.org/drawingml/2006/main">
            <a:r>
              <a:t/>
            </a:r>
          </a:p>
          <a:p xmlns:a="http://schemas.openxmlformats.org/drawingml/2006/main">
            <a:r>
              <a:t>中文理解：LightGBM 按 CV AUC 0.7607 胜出；holdout 0.7649，高于 Logistic 0.7521、RF 0.7443。差值 0.0128 是绝对 AUC 提升，不是准确率提升。阈值 0.1563，precision 25.67%，recall 41.41%。不能说不存在过拟合或收益已提高。</a:t>
            </a:r>
          </a:p>
          <a:p xmlns:a="http://schemas.openxmlformats.org/drawingml/2006/main">
            <a:r>
              <a:t/>
            </a:r>
          </a:p>
          <a:p xmlns:a="http://schemas.openxmlformats.org/drawingml/2006/main">
            <a:r>
              <a:t>Source: main.py, saved 16 October 2026. Execution metrics and comparison supplied by the user in this conversation. Historical-table use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6:10–7:00</a:t>
            </a:r>
          </a:p>
          <a:p xmlns:a="http://schemas.openxmlformats.org/drawingml/2006/main">
            <a:r>
              <a:t>To examine the selected model, I calculate permutation importance on a development sample. I shuffle one feature and measure the decrease in AUC. A larger decrease suggests that the model relies more on that feature in this sample. Correlated features can substitute for each other, so importance needs careful interpretation and does not establish causality. The code also creates a SHAP plot specifically for LightGBM, which is also the selected model in this run. After evaluation, I refit the selected configuration on all labelled applicants and generate probabilities for the unlabelled application test data.</a:t>
            </a:r>
          </a:p>
          <a:p xmlns:a="http://schemas.openxmlformats.org/drawingml/2006/main">
            <a:r>
              <a:t/>
            </a:r>
          </a:p>
          <a:p xmlns:a="http://schemas.openxmlformats.org/drawingml/2006/main">
            <a:r>
              <a:t>中文理解：置换重要性打乱一列，看 AUC 降多少。相关变量可相互替代，重要性不代表因果。SHAP 固定解释 LightGBM。评估完成后才全量重训，给无标签 test 输出概率。</a:t>
            </a:r>
          </a:p>
          <a:p xmlns:a="http://schemas.openxmlformats.org/drawingml/2006/main">
            <a:r>
              <a:t/>
            </a:r>
          </a:p>
          <a:p xmlns:a="http://schemas.openxmlformats.org/drawingml/2006/main">
            <a:r>
              <a:t>Source: main.py, saved 16 October 2026. Execution metrics and comparison supplied by the user in this conversation. Historical-table use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7:00–7:50</a:t>
            </a:r>
          </a:p>
          <a:p xmlns:a="http://schemas.openxmlformats.org/drawingml/2006/main">
            <a:r>
              <a:t>The project implements a reproducible comparison of models and separates development from final evaluation. There are still important limitations. Historical aggregation needs a field level audit to ensure that every input was available at application time. The current threshold maximizes F1 rather than lending profit. A practical decision rule would require calibrated probabilities and assumptions about interest income, default losses and customer specific loan amounts. Interpretation also needs evaluation beyond the development sample. My next steps are to verify timing, assess calibration and evaluate a cost based lending policy. The repository documents how to run the pipeline and reproduce the outputs. Thank you.</a:t>
            </a:r>
          </a:p>
          <a:p xmlns:a="http://schemas.openxmlformats.org/drawingml/2006/main">
            <a:r>
              <a:t/>
            </a:r>
          </a:p>
          <a:p xmlns:a="http://schemas.openxmlformats.org/drawingml/2006/main">
            <a:r>
              <a:t>中文理解：承认时间可用性仍需逐字段审计，不能声称已严格过滤未来信息。当前 F1 阈值没有最大化收益。下一步审计时点、检查概率校准、引入经济成本。最后放仓库地址并结束。</a:t>
            </a:r>
          </a:p>
          <a:p xmlns:a="http://schemas.openxmlformats.org/drawingml/2006/main">
            <a:r>
              <a:t/>
            </a:r>
          </a:p>
          <a:p xmlns:a="http://schemas.openxmlformats.org/drawingml/2006/main">
            <a:r>
              <a:t>Source: main.py, saved 16 October 2026. Execution metrics and comparison supplied by the user in this conversation. Historical-table use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428483fd7149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96e709632141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f5a88ad01b43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d3ce08b1cc49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7eb9094e534a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485dbd766449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C90343-15A7-4619-9E87-F4A873B4A5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2C3793-100D-4196-887E-5EE2439D1C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8C9DAD-C874-4A97-B198-190EDA30A97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D0259F-1777-4D57-AE15-AB5B68593D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CECFF0-7752-4686-A9E3-7172F53A876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71CC03E-E518-4F88-8920-099358AF8C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2E9B27-5C35-4B55-948D-19A48351E0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80D62DD-C543-48F7-87DB-34A166AF49F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FD967A-9A3B-418B-B046-25B35B088A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35FA5C-1F73-4183-A04D-C40A228B5F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8263a4c8f44803" /><Relationship Type="http://schemas.openxmlformats.org/officeDocument/2006/relationships/slideLayout" Target="/ppt/slideLayouts/slideLayout1.xml" Id="R45e36d15df47407a" /><Relationship Type="http://schemas.openxmlformats.org/officeDocument/2006/relationships/slideLayout" Target="/ppt/slideLayouts/slideLayout2.xml" Id="R272b7330d3114cf5" /><Relationship Type="http://schemas.openxmlformats.org/officeDocument/2006/relationships/slideLayout" Target="/ppt/slideLayouts/slideLayout3.xml" Id="Ra6fb8e09d96b42aa" /><Relationship Type="http://schemas.openxmlformats.org/officeDocument/2006/relationships/slideLayout" Target="/ppt/slideLayouts/slideLayout4.xml" Id="Rc398e9eedfc04904" /><Relationship Type="http://schemas.openxmlformats.org/officeDocument/2006/relationships/slideLayout" Target="/ppt/slideLayouts/slideLayout5.xml" Id="Raa0e01cbe15e4402" /><Relationship Type="http://schemas.openxmlformats.org/officeDocument/2006/relationships/slideLayout" Target="/ppt/slideLayouts/slideLayout6.xml" Id="R9400b2b8a0344b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e36d15df47407a"/>
    <p:sldLayoutId xmlns:r="http://schemas.openxmlformats.org/officeDocument/2006/relationships" id="2147483650" r:id="R272b7330d3114cf5"/>
    <p:sldLayoutId xmlns:r="http://schemas.openxmlformats.org/officeDocument/2006/relationships" id="2147483651" r:id="Ra6fb8e09d96b42aa"/>
    <p:sldLayoutId xmlns:r="http://schemas.openxmlformats.org/officeDocument/2006/relationships" id="2147483652" r:id="Rc398e9eedfc04904"/>
    <p:sldLayoutId xmlns:r="http://schemas.openxmlformats.org/officeDocument/2006/relationships" id="2147483653" r:id="Raa0e01cbe15e4402"/>
    <p:sldLayoutId xmlns:r="http://schemas.openxmlformats.org/officeDocument/2006/relationships" id="2147483654" r:id="R9400b2b8a0344b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82856c63ac4f26" /><Relationship Type="http://schemas.openxmlformats.org/officeDocument/2006/relationships/notesSlide" Target="/ppt/notesSlides/notesSlide1.xml" Id="Rc0fa5112aa1449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86ed1c265d4f96" /><Relationship Type="http://schemas.openxmlformats.org/officeDocument/2006/relationships/notesSlide" Target="/ppt/notesSlides/notesSlide2.xml" Id="Rbbaa10018c0048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7202ab966245fe" /><Relationship Type="http://schemas.openxmlformats.org/officeDocument/2006/relationships/notesSlide" Target="/ppt/notesSlides/notesSlide3.xml" Id="Rf2d3c5084f1346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eff325465745f4" /><Relationship Type="http://schemas.openxmlformats.org/officeDocument/2006/relationships/notesSlide" Target="/ppt/notesSlides/notesSlide4.xml" Id="R9c183b7fd08848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4dd33c45c34d3c" /><Relationship Type="http://schemas.openxmlformats.org/officeDocument/2006/relationships/notesSlide" Target="/ppt/notesSlides/notesSlide5.xml" Id="R2632c3c77a7949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f84726e53a4397" /><Relationship Type="http://schemas.openxmlformats.org/officeDocument/2006/relationships/notesSlide" Target="/ppt/notesSlides/notesSlide6.xml" Id="R295504086f2840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dec191c95d34f33" /><Relationship Type="http://schemas.openxmlformats.org/officeDocument/2006/relationships/notesSlide" Target="/ppt/notesSlides/notesSlide7.xml" Id="R2f049f1ca3dc4f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7feee545cc45e8" /><Relationship Type="http://schemas.openxmlformats.org/officeDocument/2006/relationships/notesSlide" Target="/ppt/notesSlides/notesSlide8.xml" Id="Ra55a6c57f02145cd"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A6DA0E-7673-488E-8ECC-90E5BDB068D7}"/>
              </a:ext>
            </a:extLst>
          </p:cNvPr>
          <p:cNvSpPr>
            <a:spLocks xmlns:a="http://schemas.openxmlformats.org/drawingml/2006/main" noGrp="1"/>
          </p:cNvSpPr>
          <p:nvPr/>
        </p:nvSpPr>
        <p:spPr>
          <a:xfrm xmlns:a="http://schemas.openxmlformats.org/drawingml/2006/main">
            <a:off x="685800" y="33337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87E83"/>
                </a:solidFill>
              </a:defRPr>
            </a:defPPr>
            <a:lvl1pPr>
              <a:defRPr sz="1350" b="1">
                <a:solidFill>
                  <a:srgbClr val="087E83"/>
                </a:solidFill>
              </a:defRPr>
            </a:lvl1pPr>
            <a:lvl2pPr>
              <a:defRPr sz="1350" b="1">
                <a:solidFill>
                  <a:srgbClr val="087E83"/>
                </a:solidFill>
              </a:defRPr>
            </a:lvl2pPr>
            <a:lvl3pPr>
              <a:defRPr sz="1350" b="1">
                <a:solidFill>
                  <a:srgbClr val="087E83"/>
                </a:solidFill>
              </a:defRPr>
            </a:lvl3pPr>
            <a:lvl4pPr>
              <a:defRPr sz="1350" b="1">
                <a:solidFill>
                  <a:srgbClr val="087E83"/>
                </a:solidFill>
              </a:defRPr>
            </a:lvl4pPr>
            <a:lvl5pPr>
              <a:defRPr sz="1350" b="1">
                <a:solidFill>
                  <a:srgbClr val="087E83"/>
                </a:solidFill>
              </a:defRPr>
            </a:lvl5pPr>
            <a:lvl6pPr>
              <a:defRPr sz="1350" b="1">
                <a:solidFill>
                  <a:srgbClr val="087E83"/>
                </a:solidFill>
              </a:defRPr>
            </a:lvl6pPr>
            <a:lvl7pPr>
              <a:defRPr sz="1350" b="1">
                <a:solidFill>
                  <a:srgbClr val="087E83"/>
                </a:solidFill>
              </a:defRPr>
            </a:lvl7pPr>
            <a:lvl8pPr>
              <a:defRPr sz="1350" b="1">
                <a:solidFill>
                  <a:srgbClr val="087E83"/>
                </a:solidFill>
              </a:defRPr>
            </a:lvl8pPr>
            <a:lvl9pPr>
              <a:defRPr sz="1350" b="1">
                <a:solidFill>
                  <a:srgbClr val="087E83"/>
                </a:solidFill>
              </a:defRPr>
            </a:lvl9pPr>
          </a:lstStyle>
          <a:p xmlns:a="http://schemas.openxmlformats.org/drawingml/2006/main">
            <a:pPr>
              <a:defRPr sz="1350" b="1">
                <a:solidFill>
                  <a:srgbClr val="087E83"/>
                </a:solidFill>
              </a:defRPr>
            </a:pPr>
            <a:r>
              <a:rPr sz="1350" b="1">
                <a:solidFill>
                  <a:srgbClr val="087E83"/>
                </a:solidFill>
              </a:rPr>
              <a:t>01</a:t>
            </a:r>
          </a:p>
        </p:txBody>
      </p:sp>
      <p:sp>
        <p:nvSpPr>
          <p:cNvPr id="2" name="">
            <a:extLst xmlns:a="http://schemas.openxmlformats.org/drawingml/2006/main">
              <a:ext uri="{FF2B5EF4-FFF2-40B4-BE49-F238E27FC236}">
                <a16:creationId xmlns:a16="http://schemas.microsoft.com/office/drawing/2014/main" id="{53FEBA0F-5D62-4A23-94A9-1B6C965472A9}"/>
              </a:ext>
            </a:extLst>
          </p:cNvPr>
          <p:cNvSpPr>
            <a:spLocks xmlns:a="http://schemas.openxmlformats.org/drawingml/2006/main" noGrp="1"/>
          </p:cNvSpPr>
          <p:nvPr/>
        </p:nvSpPr>
        <p:spPr>
          <a:xfrm xmlns:a="http://schemas.openxmlformats.org/drawingml/2006/main">
            <a:off x="685800" y="8572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650" b="1">
                <a:solidFill>
                  <a:srgbClr val="11283F"/>
                </a:solidFill>
              </a:defRPr>
            </a:defPPr>
            <a:lvl1pPr>
              <a:defRPr sz="4650" b="1">
                <a:solidFill>
                  <a:srgbClr val="11283F"/>
                </a:solidFill>
              </a:defRPr>
            </a:lvl1pPr>
            <a:lvl2pPr>
              <a:defRPr sz="4650" b="1">
                <a:solidFill>
                  <a:srgbClr val="11283F"/>
                </a:solidFill>
              </a:defRPr>
            </a:lvl2pPr>
            <a:lvl3pPr>
              <a:defRPr sz="4650" b="1">
                <a:solidFill>
                  <a:srgbClr val="11283F"/>
                </a:solidFill>
              </a:defRPr>
            </a:lvl3pPr>
            <a:lvl4pPr>
              <a:defRPr sz="4650" b="1">
                <a:solidFill>
                  <a:srgbClr val="11283F"/>
                </a:solidFill>
              </a:defRPr>
            </a:lvl4pPr>
            <a:lvl5pPr>
              <a:defRPr sz="4650" b="1">
                <a:solidFill>
                  <a:srgbClr val="11283F"/>
                </a:solidFill>
              </a:defRPr>
            </a:lvl5pPr>
            <a:lvl6pPr>
              <a:defRPr sz="4650" b="1">
                <a:solidFill>
                  <a:srgbClr val="11283F"/>
                </a:solidFill>
              </a:defRPr>
            </a:lvl6pPr>
            <a:lvl7pPr>
              <a:defRPr sz="4650" b="1">
                <a:solidFill>
                  <a:srgbClr val="11283F"/>
                </a:solidFill>
              </a:defRPr>
            </a:lvl7pPr>
            <a:lvl8pPr>
              <a:defRPr sz="4650" b="1">
                <a:solidFill>
                  <a:srgbClr val="11283F"/>
                </a:solidFill>
              </a:defRPr>
            </a:lvl8pPr>
            <a:lvl9pPr>
              <a:defRPr sz="4650" b="1">
                <a:solidFill>
                  <a:srgbClr val="11283F"/>
                </a:solidFill>
              </a:defRPr>
            </a:lvl9pPr>
          </a:lstStyle>
          <a:p xmlns:a="http://schemas.openxmlformats.org/drawingml/2006/main">
            <a:pPr>
              <a:defRPr sz="4650" b="1">
                <a:solidFill>
                  <a:srgbClr val="11283F"/>
                </a:solidFill>
              </a:defRPr>
            </a:pPr>
            <a:r>
              <a:rPr sz="4650" b="1">
                <a:solidFill>
                  <a:srgbClr val="11283F"/>
                </a:solidFill>
              </a:rPr>
              <a:t>Loan Default Prediction</a:t>
            </a:r>
          </a:p>
        </p:txBody>
      </p:sp>
      <p:sp>
        <p:nvSpPr>
          <p:cNvPr id="3" name="">
            <a:extLst xmlns:a="http://schemas.openxmlformats.org/drawingml/2006/main">
              <a:ext uri="{FF2B5EF4-FFF2-40B4-BE49-F238E27FC236}">
                <a16:creationId xmlns:a16="http://schemas.microsoft.com/office/drawing/2014/main" id="{27F8A5FB-9215-4A00-B104-13609BB2D964}"/>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374"/>
                </a:solidFill>
              </a:defRPr>
            </a:defPPr>
            <a:lvl1pPr>
              <a:defRPr sz="1350" b="0">
                <a:solidFill>
                  <a:srgbClr val="536374"/>
                </a:solidFill>
              </a:defRPr>
            </a:lvl1pPr>
            <a:lvl2pPr>
              <a:defRPr sz="1350" b="0">
                <a:solidFill>
                  <a:srgbClr val="536374"/>
                </a:solidFill>
              </a:defRPr>
            </a:lvl2pPr>
            <a:lvl3pPr>
              <a:defRPr sz="1350" b="0">
                <a:solidFill>
                  <a:srgbClr val="536374"/>
                </a:solidFill>
              </a:defRPr>
            </a:lvl3pPr>
            <a:lvl4pPr>
              <a:defRPr sz="1350" b="0">
                <a:solidFill>
                  <a:srgbClr val="536374"/>
                </a:solidFill>
              </a:defRPr>
            </a:lvl4pPr>
            <a:lvl5pPr>
              <a:defRPr sz="1350" b="0">
                <a:solidFill>
                  <a:srgbClr val="536374"/>
                </a:solidFill>
              </a:defRPr>
            </a:lvl5pPr>
            <a:lvl6pPr>
              <a:defRPr sz="1350" b="0">
                <a:solidFill>
                  <a:srgbClr val="536374"/>
                </a:solidFill>
              </a:defRPr>
            </a:lvl6pPr>
            <a:lvl7pPr>
              <a:defRPr sz="1350" b="0">
                <a:solidFill>
                  <a:srgbClr val="536374"/>
                </a:solidFill>
              </a:defRPr>
            </a:lvl7pPr>
            <a:lvl8pPr>
              <a:defRPr sz="1350" b="0">
                <a:solidFill>
                  <a:srgbClr val="536374"/>
                </a:solidFill>
              </a:defRPr>
            </a:lvl8pPr>
            <a:lvl9pPr>
              <a:defRPr sz="1350" b="0">
                <a:solidFill>
                  <a:srgbClr val="536374"/>
                </a:solidFill>
              </a:defRPr>
            </a:lvl9pPr>
          </a:lstStyle>
          <a:p xmlns:a="http://schemas.openxmlformats.org/drawingml/2006/main">
            <a:pPr>
              <a:defRPr sz="1350" b="0">
                <a:solidFill>
                  <a:srgbClr val="536374"/>
                </a:solidFill>
              </a:defRPr>
            </a:pPr>
            <a:r>
              <a:rPr sz="1350" b="0">
                <a:solidFill>
                  <a:srgbClr val="536374"/>
                </a:solidFill>
              </a:rPr>
              <a:t>1 / 8</a:t>
            </a:r>
          </a:p>
        </p:txBody>
      </p:sp>
      <p:sp>
        <p:nvSpPr>
          <p:cNvPr id="4" name="">
            <a:extLst xmlns:a="http://schemas.openxmlformats.org/drawingml/2006/main">
              <a:ext uri="{FF2B5EF4-FFF2-40B4-BE49-F238E27FC236}">
                <a16:creationId xmlns:a16="http://schemas.microsoft.com/office/drawing/2014/main" id="{5A089E19-CAAF-42B5-8CB3-96836AE961E4}"/>
              </a:ext>
            </a:extLst>
          </p:cNvPr>
          <p:cNvSpPr>
            <a:spLocks xmlns:a="http://schemas.openxmlformats.org/drawingml/2006/main" noGrp="1"/>
          </p:cNvSpPr>
          <p:nvPr/>
        </p:nvSpPr>
        <p:spPr>
          <a:xfrm xmlns:a="http://schemas.openxmlformats.org/drawingml/2006/main">
            <a:off x="685800" y="257175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087E83"/>
                </a:solidFill>
              </a:defRPr>
            </a:defPPr>
            <a:lvl1pPr>
              <a:defRPr sz="2700" b="0">
                <a:solidFill>
                  <a:srgbClr val="087E83"/>
                </a:solidFill>
              </a:defRPr>
            </a:lvl1pPr>
            <a:lvl2pPr>
              <a:defRPr sz="2700" b="0">
                <a:solidFill>
                  <a:srgbClr val="087E83"/>
                </a:solidFill>
              </a:defRPr>
            </a:lvl2pPr>
            <a:lvl3pPr>
              <a:defRPr sz="2700" b="0">
                <a:solidFill>
                  <a:srgbClr val="087E83"/>
                </a:solidFill>
              </a:defRPr>
            </a:lvl3pPr>
            <a:lvl4pPr>
              <a:defRPr sz="2700" b="0">
                <a:solidFill>
                  <a:srgbClr val="087E83"/>
                </a:solidFill>
              </a:defRPr>
            </a:lvl4pPr>
            <a:lvl5pPr>
              <a:defRPr sz="2700" b="0">
                <a:solidFill>
                  <a:srgbClr val="087E83"/>
                </a:solidFill>
              </a:defRPr>
            </a:lvl5pPr>
            <a:lvl6pPr>
              <a:defRPr sz="2700" b="0">
                <a:solidFill>
                  <a:srgbClr val="087E83"/>
                </a:solidFill>
              </a:defRPr>
            </a:lvl6pPr>
            <a:lvl7pPr>
              <a:defRPr sz="2700" b="0">
                <a:solidFill>
                  <a:srgbClr val="087E83"/>
                </a:solidFill>
              </a:defRPr>
            </a:lvl7pPr>
            <a:lvl8pPr>
              <a:defRPr sz="2700" b="0">
                <a:solidFill>
                  <a:srgbClr val="087E83"/>
                </a:solidFill>
              </a:defRPr>
            </a:lvl8pPr>
            <a:lvl9pPr>
              <a:defRPr sz="2700" b="0">
                <a:solidFill>
                  <a:srgbClr val="087E83"/>
                </a:solidFill>
              </a:defRPr>
            </a:lvl9pPr>
          </a:lstStyle>
          <a:p xmlns:a="http://schemas.openxmlformats.org/drawingml/2006/main">
            <a:pPr>
              <a:defRPr sz="2700" b="0">
                <a:solidFill>
                  <a:srgbClr val="087E83"/>
                </a:solidFill>
              </a:defRPr>
            </a:pPr>
            <a:r>
              <a:rPr sz="2700" b="0">
                <a:solidFill>
                  <a:srgbClr val="087E83"/>
                </a:solidFill>
              </a:rPr>
              <a:t>Home Credit Default Risk</a:t>
            </a:r>
          </a:p>
        </p:txBody>
      </p:sp>
      <p:sp>
        <p:nvSpPr>
          <p:cNvPr id="5" name="">
            <a:extLst xmlns:a="http://schemas.openxmlformats.org/drawingml/2006/main">
              <a:ext uri="{FF2B5EF4-FFF2-40B4-BE49-F238E27FC236}">
                <a16:creationId xmlns:a16="http://schemas.microsoft.com/office/drawing/2014/main" id="{0FE6F7D4-9891-4801-8CB8-A0C0283C7E26}"/>
              </a:ext>
            </a:extLst>
          </p:cNvPr>
          <p:cNvSpPr>
            <a:spLocks xmlns:a="http://schemas.openxmlformats.org/drawingml/2006/main" noGrp="1"/>
          </p:cNvSpPr>
          <p:nvPr/>
        </p:nvSpPr>
        <p:spPr>
          <a:xfrm xmlns:a="http://schemas.openxmlformats.org/drawingml/2006/main">
            <a:off x="685800" y="4000500"/>
            <a:ext cx="8572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536374"/>
                </a:solidFill>
              </a:defRPr>
            </a:defPPr>
            <a:lvl1pPr>
              <a:defRPr sz="2100" b="0">
                <a:solidFill>
                  <a:srgbClr val="536374"/>
                </a:solidFill>
              </a:defRPr>
            </a:lvl1pPr>
            <a:lvl2pPr>
              <a:defRPr sz="2100" b="0">
                <a:solidFill>
                  <a:srgbClr val="536374"/>
                </a:solidFill>
              </a:defRPr>
            </a:lvl2pPr>
            <a:lvl3pPr>
              <a:defRPr sz="2100" b="0">
                <a:solidFill>
                  <a:srgbClr val="536374"/>
                </a:solidFill>
              </a:defRPr>
            </a:lvl3pPr>
            <a:lvl4pPr>
              <a:defRPr sz="2100" b="0">
                <a:solidFill>
                  <a:srgbClr val="536374"/>
                </a:solidFill>
              </a:defRPr>
            </a:lvl4pPr>
            <a:lvl5pPr>
              <a:defRPr sz="2100" b="0">
                <a:solidFill>
                  <a:srgbClr val="536374"/>
                </a:solidFill>
              </a:defRPr>
            </a:lvl5pPr>
            <a:lvl6pPr>
              <a:defRPr sz="2100" b="0">
                <a:solidFill>
                  <a:srgbClr val="536374"/>
                </a:solidFill>
              </a:defRPr>
            </a:lvl6pPr>
            <a:lvl7pPr>
              <a:defRPr sz="2100" b="0">
                <a:solidFill>
                  <a:srgbClr val="536374"/>
                </a:solidFill>
              </a:defRPr>
            </a:lvl7pPr>
            <a:lvl8pPr>
              <a:defRPr sz="2100" b="0">
                <a:solidFill>
                  <a:srgbClr val="536374"/>
                </a:solidFill>
              </a:defRPr>
            </a:lvl8pPr>
            <a:lvl9pPr>
              <a:defRPr sz="2100" b="0">
                <a:solidFill>
                  <a:srgbClr val="536374"/>
                </a:solidFill>
              </a:defRPr>
            </a:lvl9pPr>
          </a:lstStyle>
          <a:p xmlns:a="http://schemas.openxmlformats.org/drawingml/2006/main">
            <a:pPr>
              <a:defRPr sz="2100" b="0">
                <a:solidFill>
                  <a:srgbClr val="536374"/>
                </a:solidFill>
              </a:defRPr>
            </a:pPr>
            <a:r>
              <a:rPr sz="2100" b="0">
                <a:solidFill>
                  <a:srgbClr val="536374"/>
                </a:solidFill>
              </a:rPr>
              <a:t>Xuerun Mao</a:t>
            </a:r>
          </a:p>
          <a:p xmlns:a="http://schemas.openxmlformats.org/drawingml/2006/main">
            <a:pPr>
              <a:defRPr sz="2100" b="0">
                <a:solidFill>
                  <a:srgbClr val="536374"/>
                </a:solidFill>
              </a:defRPr>
            </a:pPr>
            <a:r>
              <a:rPr sz="2100" b="0">
                <a:solidFill>
                  <a:srgbClr val="536374"/>
                </a:solidFill>
              </a:rPr>
              <a:t>University of Cambridge</a:t>
            </a:r>
          </a:p>
          <a:p xmlns:a="http://schemas.openxmlformats.org/drawingml/2006/main">
            <a:pPr>
              <a:defRPr sz="2100" b="0">
                <a:solidFill>
                  <a:srgbClr val="536374"/>
                </a:solidFill>
              </a:defRPr>
            </a:pPr>
            <a:r>
              <a:rPr sz="2100" b="0">
                <a:solidFill>
                  <a:srgbClr val="536374"/>
                </a:solidFill>
              </a:rPr>
              <a:t>23 October 2026</a:t>
            </a:r>
          </a:p>
        </p:txBody>
      </p:sp>
    </p:spTree>
    <p:extLst>
      <p:ext uri="{BB962C8B-B14F-4D97-AF65-F5344CB8AC3E}">
        <p14:creationId xmlns:p14="http://schemas.microsoft.com/office/powerpoint/2010/main" val="324465538"/>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8F5F86-AAC8-4EE4-B69F-B2616D31A740}"/>
              </a:ext>
            </a:extLst>
          </p:cNvPr>
          <p:cNvSpPr>
            <a:spLocks xmlns:a="http://schemas.openxmlformats.org/drawingml/2006/main" noGrp="1"/>
          </p:cNvSpPr>
          <p:nvPr/>
        </p:nvSpPr>
        <p:spPr>
          <a:xfrm xmlns:a="http://schemas.openxmlformats.org/drawingml/2006/main">
            <a:off x="685800" y="33337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87E83"/>
                </a:solidFill>
              </a:defRPr>
            </a:defPPr>
            <a:lvl1pPr>
              <a:defRPr sz="1350" b="1">
                <a:solidFill>
                  <a:srgbClr val="087E83"/>
                </a:solidFill>
              </a:defRPr>
            </a:lvl1pPr>
            <a:lvl2pPr>
              <a:defRPr sz="1350" b="1">
                <a:solidFill>
                  <a:srgbClr val="087E83"/>
                </a:solidFill>
              </a:defRPr>
            </a:lvl2pPr>
            <a:lvl3pPr>
              <a:defRPr sz="1350" b="1">
                <a:solidFill>
                  <a:srgbClr val="087E83"/>
                </a:solidFill>
              </a:defRPr>
            </a:lvl3pPr>
            <a:lvl4pPr>
              <a:defRPr sz="1350" b="1">
                <a:solidFill>
                  <a:srgbClr val="087E83"/>
                </a:solidFill>
              </a:defRPr>
            </a:lvl4pPr>
            <a:lvl5pPr>
              <a:defRPr sz="1350" b="1">
                <a:solidFill>
                  <a:srgbClr val="087E83"/>
                </a:solidFill>
              </a:defRPr>
            </a:lvl5pPr>
            <a:lvl6pPr>
              <a:defRPr sz="1350" b="1">
                <a:solidFill>
                  <a:srgbClr val="087E83"/>
                </a:solidFill>
              </a:defRPr>
            </a:lvl6pPr>
            <a:lvl7pPr>
              <a:defRPr sz="1350" b="1">
                <a:solidFill>
                  <a:srgbClr val="087E83"/>
                </a:solidFill>
              </a:defRPr>
            </a:lvl7pPr>
            <a:lvl8pPr>
              <a:defRPr sz="1350" b="1">
                <a:solidFill>
                  <a:srgbClr val="087E83"/>
                </a:solidFill>
              </a:defRPr>
            </a:lvl8pPr>
            <a:lvl9pPr>
              <a:defRPr sz="1350" b="1">
                <a:solidFill>
                  <a:srgbClr val="087E83"/>
                </a:solidFill>
              </a:defRPr>
            </a:lvl9pPr>
          </a:lstStyle>
          <a:p xmlns:a="http://schemas.openxmlformats.org/drawingml/2006/main">
            <a:pPr>
              <a:defRPr sz="1350" b="1">
                <a:solidFill>
                  <a:srgbClr val="087E83"/>
                </a:solidFill>
              </a:defRPr>
            </a:pPr>
            <a:r>
              <a:rPr sz="1350" b="1">
                <a:solidFill>
                  <a:srgbClr val="087E83"/>
                </a:solidFill>
              </a:rPr>
              <a:t>02</a:t>
            </a:r>
          </a:p>
        </p:txBody>
      </p:sp>
      <p:sp>
        <p:nvSpPr>
          <p:cNvPr id="2" name="">
            <a:extLst xmlns:a="http://schemas.openxmlformats.org/drawingml/2006/main">
              <a:ext uri="{FF2B5EF4-FFF2-40B4-BE49-F238E27FC236}">
                <a16:creationId xmlns:a16="http://schemas.microsoft.com/office/drawing/2014/main" id="{A6D39105-3735-4055-A097-4C44A623FA11}"/>
              </a:ext>
            </a:extLst>
          </p:cNvPr>
          <p:cNvSpPr>
            <a:spLocks xmlns:a="http://schemas.openxmlformats.org/drawingml/2006/main" noGrp="1"/>
          </p:cNvSpPr>
          <p:nvPr/>
        </p:nvSpPr>
        <p:spPr>
          <a:xfrm xmlns:a="http://schemas.openxmlformats.org/drawingml/2006/main">
            <a:off x="685800" y="8572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1283F"/>
                </a:solidFill>
              </a:defRPr>
            </a:defPPr>
            <a:lvl1pPr>
              <a:defRPr sz="3300" b="1">
                <a:solidFill>
                  <a:srgbClr val="11283F"/>
                </a:solidFill>
              </a:defRPr>
            </a:lvl1pPr>
            <a:lvl2pPr>
              <a:defRPr sz="3300" b="1">
                <a:solidFill>
                  <a:srgbClr val="11283F"/>
                </a:solidFill>
              </a:defRPr>
            </a:lvl2pPr>
            <a:lvl3pPr>
              <a:defRPr sz="3300" b="1">
                <a:solidFill>
                  <a:srgbClr val="11283F"/>
                </a:solidFill>
              </a:defRPr>
            </a:lvl3pPr>
            <a:lvl4pPr>
              <a:defRPr sz="3300" b="1">
                <a:solidFill>
                  <a:srgbClr val="11283F"/>
                </a:solidFill>
              </a:defRPr>
            </a:lvl4pPr>
            <a:lvl5pPr>
              <a:defRPr sz="3300" b="1">
                <a:solidFill>
                  <a:srgbClr val="11283F"/>
                </a:solidFill>
              </a:defRPr>
            </a:lvl5pPr>
            <a:lvl6pPr>
              <a:defRPr sz="3300" b="1">
                <a:solidFill>
                  <a:srgbClr val="11283F"/>
                </a:solidFill>
              </a:defRPr>
            </a:lvl6pPr>
            <a:lvl7pPr>
              <a:defRPr sz="3300" b="1">
                <a:solidFill>
                  <a:srgbClr val="11283F"/>
                </a:solidFill>
              </a:defRPr>
            </a:lvl7pPr>
            <a:lvl8pPr>
              <a:defRPr sz="3300" b="1">
                <a:solidFill>
                  <a:srgbClr val="11283F"/>
                </a:solidFill>
              </a:defRPr>
            </a:lvl8pPr>
            <a:lvl9pPr>
              <a:defRPr sz="3300" b="1">
                <a:solidFill>
                  <a:srgbClr val="11283F"/>
                </a:solidFill>
              </a:defRPr>
            </a:lvl9pPr>
          </a:lstStyle>
          <a:p xmlns:a="http://schemas.openxmlformats.org/drawingml/2006/main">
            <a:pPr>
              <a:defRPr sz="3300" b="1">
                <a:solidFill>
                  <a:srgbClr val="11283F"/>
                </a:solidFill>
              </a:defRPr>
            </a:pPr>
            <a:r>
              <a:rPr sz="3300" b="1">
                <a:solidFill>
                  <a:srgbClr val="11283F"/>
                </a:solidFill>
              </a:rPr>
              <a:t>Applicant data and credit history</a:t>
            </a:r>
          </a:p>
        </p:txBody>
      </p:sp>
      <p:sp>
        <p:nvSpPr>
          <p:cNvPr id="3" name="">
            <a:extLst xmlns:a="http://schemas.openxmlformats.org/drawingml/2006/main">
              <a:ext uri="{FF2B5EF4-FFF2-40B4-BE49-F238E27FC236}">
                <a16:creationId xmlns:a16="http://schemas.microsoft.com/office/drawing/2014/main" id="{D189251B-F204-474D-B14F-C12AC6F46558}"/>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374"/>
                </a:solidFill>
              </a:defRPr>
            </a:defPPr>
            <a:lvl1pPr>
              <a:defRPr sz="1350" b="0">
                <a:solidFill>
                  <a:srgbClr val="536374"/>
                </a:solidFill>
              </a:defRPr>
            </a:lvl1pPr>
            <a:lvl2pPr>
              <a:defRPr sz="1350" b="0">
                <a:solidFill>
                  <a:srgbClr val="536374"/>
                </a:solidFill>
              </a:defRPr>
            </a:lvl2pPr>
            <a:lvl3pPr>
              <a:defRPr sz="1350" b="0">
                <a:solidFill>
                  <a:srgbClr val="536374"/>
                </a:solidFill>
              </a:defRPr>
            </a:lvl3pPr>
            <a:lvl4pPr>
              <a:defRPr sz="1350" b="0">
                <a:solidFill>
                  <a:srgbClr val="536374"/>
                </a:solidFill>
              </a:defRPr>
            </a:lvl4pPr>
            <a:lvl5pPr>
              <a:defRPr sz="1350" b="0">
                <a:solidFill>
                  <a:srgbClr val="536374"/>
                </a:solidFill>
              </a:defRPr>
            </a:lvl5pPr>
            <a:lvl6pPr>
              <a:defRPr sz="1350" b="0">
                <a:solidFill>
                  <a:srgbClr val="536374"/>
                </a:solidFill>
              </a:defRPr>
            </a:lvl6pPr>
            <a:lvl7pPr>
              <a:defRPr sz="1350" b="0">
                <a:solidFill>
                  <a:srgbClr val="536374"/>
                </a:solidFill>
              </a:defRPr>
            </a:lvl7pPr>
            <a:lvl8pPr>
              <a:defRPr sz="1350" b="0">
                <a:solidFill>
                  <a:srgbClr val="536374"/>
                </a:solidFill>
              </a:defRPr>
            </a:lvl8pPr>
            <a:lvl9pPr>
              <a:defRPr sz="1350" b="0">
                <a:solidFill>
                  <a:srgbClr val="536374"/>
                </a:solidFill>
              </a:defRPr>
            </a:lvl9pPr>
          </a:lstStyle>
          <a:p xmlns:a="http://schemas.openxmlformats.org/drawingml/2006/main">
            <a:pPr>
              <a:defRPr sz="1350" b="0">
                <a:solidFill>
                  <a:srgbClr val="536374"/>
                </a:solidFill>
              </a:defRPr>
            </a:pPr>
            <a:r>
              <a:rPr sz="1350" b="0">
                <a:solidFill>
                  <a:srgbClr val="536374"/>
                </a:solidFill>
              </a:rPr>
              <a:t>2 / 8</a:t>
            </a:r>
          </a:p>
        </p:txBody>
      </p:sp>
      <p:graphicFrame>
        <p:nvGraphicFramePr>
          <p:cNvPr id="4" name="">
            <a:extLst xmlns:a="http://schemas.openxmlformats.org/drawingml/2006/main">
              <a:ext uri="{FF2B5EF4-FFF2-40B4-BE49-F238E27FC236}">
                <a16:creationId xmlns:a16="http://schemas.microsoft.com/office/drawing/2014/main" id="{C9C48A02-B6BF-44C2-A8DE-9897CE9AE012}"/>
              </a:ext>
            </a:extLst>
          </p:cNvPr>
          <p:cNvGraphicFramePr/>
          <p:nvPr/>
        </p:nvGraphicFramePr>
        <p:xfrm>
          <a:off xmlns:a="http://schemas.openxmlformats.org/drawingml/2006/main" x="685800" y="2095500"/>
          <a:ext xmlns:a="http://schemas.openxmlformats.org/drawingml/2006/main" cx="10820400" cy="2476500"/>
        </p:xfrm>
        <a:graphic xmlns:a="http://schemas.openxmlformats.org/drawingml/2006/main">
          <a:graphicData uri="http://schemas.openxmlformats.org/drawingml/2006/table">
            <a:tbl>
              <a:tblPr/>
              <a:tblGrid>
                <a:gridCol w="3810000"/>
                <a:gridCol w="7010400"/>
              </a:tblGrid>
              <a:tr h="619125">
                <a:tc>
                  <a:txBody>
                    <a:bodyPr/>
                    <a:lstStyle/>
                    <a:p>
                      <a:r>
                        <a:rPr sz="1800" b="1">
                          <a:solidFill>
                            <a:srgbClr val="FFFFFF"/>
                          </a:solidFill>
                        </a:rPr>
                        <a:t>Source</a:t>
                      </a:r>
                    </a:p>
                  </a:txBody>
                  <a:tcPr marL="91440" marR="91440" marT="45720" marB="45720">
                    <a:lnL w="9525">
                      <a:solidFill>
                        <a:srgbClr val="D9E2E8"/>
                      </a:solidFill>
                      <a:prstDash val="solid"/>
                    </a:lnL>
                    <a:lnR w="9525">
                      <a:solidFill>
                        <a:srgbClr val="D9E2E8"/>
                      </a:solidFill>
                      <a:prstDash val="solid"/>
                    </a:lnR>
                    <a:lnT w="9525">
                      <a:solidFill>
                        <a:srgbClr val="D9E2E8"/>
                      </a:solidFill>
                      <a:prstDash val="solid"/>
                    </a:lnT>
                    <a:lnB w="9525">
                      <a:solidFill>
                        <a:srgbClr val="D9E2E8"/>
                      </a:solidFill>
                      <a:prstDash val="solid"/>
                    </a:lnB>
                    <a:solidFill>
                      <a:srgbClr val="11283F"/>
                    </a:solidFill>
                  </a:tcPr>
                </a:tc>
                <a:tc>
                  <a:txBody>
                    <a:bodyPr/>
                    <a:lstStyle/>
                    <a:p>
                      <a:r>
                        <a:rPr sz="1800" b="1">
                          <a:solidFill>
                            <a:srgbClr val="FFFFFF"/>
                          </a:solidFill>
                        </a:rPr>
                        <a:t>Applicant-level input</a:t>
                      </a:r>
                    </a:p>
                  </a:txBody>
                  <a:tcPr marL="91440" marR="91440" marT="45720" marB="45720">
                    <a:lnR w="9525">
                      <a:solidFill>
                        <a:srgbClr val="D9E2E8"/>
                      </a:solidFill>
                      <a:prstDash val="solid"/>
                    </a:lnR>
                    <a:lnT w="9525">
                      <a:solidFill>
                        <a:srgbClr val="D9E2E8"/>
                      </a:solidFill>
                      <a:prstDash val="solid"/>
                    </a:lnT>
                    <a:lnB w="9525">
                      <a:solidFill>
                        <a:srgbClr val="D9E2E8"/>
                      </a:solidFill>
                      <a:prstDash val="solid"/>
                    </a:lnB>
                    <a:solidFill>
                      <a:srgbClr val="11283F"/>
                    </a:solidFill>
                  </a:tcPr>
                </a:tc>
              </a:tr>
              <a:tr h="619125">
                <a:tc>
                  <a:txBody>
                    <a:bodyPr/>
                    <a:lstStyle/>
                    <a:p>
                      <a:r>
                        <a:rPr sz="1800" b="0">
                          <a:solidFill>
                            <a:srgbClr val="11283F"/>
                          </a:solidFill>
                        </a:rPr>
                        <a:t>Application table</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Income, credit amount, employment, scores</a:t>
                      </a:r>
                    </a:p>
                  </a:txBody>
                  <a:tcPr marL="91440" marR="91440" marT="45720" marB="45720">
                    <a:lnR w="9525">
                      <a:solidFill>
                        <a:srgbClr val="D9E2E8"/>
                      </a:solidFill>
                      <a:prstDash val="solid"/>
                    </a:lnR>
                    <a:lnB w="9525">
                      <a:solidFill>
                        <a:srgbClr val="D9E2E8"/>
                      </a:solidFill>
                      <a:prstDash val="solid"/>
                    </a:lnB>
                    <a:solidFill>
                      <a:srgbClr val="EEF4F5"/>
                    </a:solidFill>
                  </a:tcPr>
                </a:tc>
              </a:tr>
              <a:tr h="619125">
                <a:tc>
                  <a:txBody>
                    <a:bodyPr/>
                    <a:lstStyle/>
                    <a:p>
                      <a:r>
                        <a:rPr sz="1800" b="0">
                          <a:solidFill>
                            <a:srgbClr val="11283F"/>
                          </a:solidFill>
                        </a:rPr>
                        <a:t>Historical tables (optional)</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a:lstStyle/>
                    <a:p>
                      <a:r>
                        <a:rPr sz="1800" b="0">
                          <a:solidFill>
                            <a:srgbClr val="11283F"/>
                          </a:solidFill>
                        </a:rPr>
                        <a:t>Mean, max, min and record count</a:t>
                      </a:r>
                    </a:p>
                  </a:txBody>
                  <a:tcPr marL="91440" marR="91440" marT="45720" marB="45720">
                    <a:lnR w="9525">
                      <a:solidFill>
                        <a:srgbClr val="D9E2E8"/>
                      </a:solidFill>
                      <a:prstDash val="solid"/>
                    </a:lnR>
                    <a:lnB w="9525">
                      <a:solidFill>
                        <a:srgbClr val="D9E2E8"/>
                      </a:solidFill>
                      <a:prstDash val="solid"/>
                    </a:lnB>
                    <a:solidFill>
                      <a:srgbClr val="FFFFFF"/>
                    </a:solidFill>
                  </a:tcPr>
                </a:tc>
              </a:tr>
              <a:tr h="619125">
                <a:tc>
                  <a:txBody>
                    <a:bodyPr/>
                    <a:lstStyle/>
                    <a:p>
                      <a:r>
                        <a:rPr sz="1800" b="0">
                          <a:solidFill>
                            <a:srgbClr val="11283F"/>
                          </a:solidFill>
                        </a:rPr>
                        <a:t>Bureau balance</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Status counts linked through bureau ID</a:t>
                      </a:r>
                    </a:p>
                  </a:txBody>
                  <a:tcPr marL="91440" marR="91440" marT="45720" marB="45720">
                    <a:lnR w="9525">
                      <a:solidFill>
                        <a:srgbClr val="D9E2E8"/>
                      </a:solidFill>
                      <a:prstDash val="solid"/>
                    </a:lnR>
                    <a:lnB w="9525">
                      <a:solidFill>
                        <a:srgbClr val="D9E2E8"/>
                      </a:solidFill>
                      <a:prstDash val="solid"/>
                    </a:lnB>
                    <a:solidFill>
                      <a:srgbClr val="EEF4F5"/>
                    </a:solidFill>
                  </a:tcPr>
                </a:tc>
              </a:tr>
            </a:tbl>
          </a:graphicData>
        </a:graphic>
      </p:graphicFrame>
      <p:sp>
        <p:nvSpPr>
          <p:cNvPr id="5" name="">
            <a:extLst xmlns:a="http://schemas.openxmlformats.org/drawingml/2006/main">
              <a:ext uri="{FF2B5EF4-FFF2-40B4-BE49-F238E27FC236}">
                <a16:creationId xmlns:a16="http://schemas.microsoft.com/office/drawing/2014/main" id="{CEB0264C-C448-4491-BCFA-BB515EC4BE79}"/>
              </a:ext>
            </a:extLst>
          </p:cNvPr>
          <p:cNvSpPr>
            <a:spLocks xmlns:a="http://schemas.openxmlformats.org/drawingml/2006/main" noGrp="1"/>
          </p:cNvSpPr>
          <p:nvPr/>
        </p:nvSpPr>
        <p:spPr>
          <a:xfrm xmlns:a="http://schemas.openxmlformats.org/drawingml/2006/main">
            <a:off x="685800" y="5095875"/>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3"/>
                </a:solidFill>
              </a:defRPr>
            </a:defPPr>
            <a:lvl1pPr>
              <a:defRPr sz="2025" b="1">
                <a:solidFill>
                  <a:srgbClr val="087E83"/>
                </a:solidFill>
              </a:defRPr>
            </a:lvl1pPr>
            <a:lvl2pPr>
              <a:defRPr sz="2025" b="1">
                <a:solidFill>
                  <a:srgbClr val="087E83"/>
                </a:solidFill>
              </a:defRPr>
            </a:lvl2pPr>
            <a:lvl3pPr>
              <a:defRPr sz="2025" b="1">
                <a:solidFill>
                  <a:srgbClr val="087E83"/>
                </a:solidFill>
              </a:defRPr>
            </a:lvl3pPr>
            <a:lvl4pPr>
              <a:defRPr sz="2025" b="1">
                <a:solidFill>
                  <a:srgbClr val="087E83"/>
                </a:solidFill>
              </a:defRPr>
            </a:lvl4pPr>
            <a:lvl5pPr>
              <a:defRPr sz="2025" b="1">
                <a:solidFill>
                  <a:srgbClr val="087E83"/>
                </a:solidFill>
              </a:defRPr>
            </a:lvl5pPr>
            <a:lvl6pPr>
              <a:defRPr sz="2025" b="1">
                <a:solidFill>
                  <a:srgbClr val="087E83"/>
                </a:solidFill>
              </a:defRPr>
            </a:lvl6pPr>
            <a:lvl7pPr>
              <a:defRPr sz="2025" b="1">
                <a:solidFill>
                  <a:srgbClr val="087E83"/>
                </a:solidFill>
              </a:defRPr>
            </a:lvl7pPr>
            <a:lvl8pPr>
              <a:defRPr sz="2025" b="1">
                <a:solidFill>
                  <a:srgbClr val="087E83"/>
                </a:solidFill>
              </a:defRPr>
            </a:lvl8pPr>
            <a:lvl9pPr>
              <a:defRPr sz="2025" b="1">
                <a:solidFill>
                  <a:srgbClr val="087E83"/>
                </a:solidFill>
              </a:defRPr>
            </a:lvl9pPr>
          </a:lstStyle>
          <a:p xmlns:a="http://schemas.openxmlformats.org/drawingml/2006/main">
            <a:pPr>
              <a:defRPr sz="2025" b="1">
                <a:solidFill>
                  <a:srgbClr val="087E83"/>
                </a:solidFill>
              </a:defRPr>
            </a:pPr>
            <a:r>
              <a:rPr sz="2025" b="1">
                <a:solidFill>
                  <a:srgbClr val="087E83"/>
                </a:solidFill>
              </a:rPr>
              <a:t>307,511 applicants; 8.07% positive outcomes; 126 input features</a:t>
            </a:r>
          </a:p>
        </p:txBody>
      </p:sp>
    </p:spTree>
    <p:extLst>
      <p:ext uri="{BB962C8B-B14F-4D97-AF65-F5344CB8AC3E}">
        <p14:creationId xmlns:p14="http://schemas.microsoft.com/office/powerpoint/2010/main" val="1741616873"/>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2E8DCB-2457-49C7-BEB3-FD62AFECA270}"/>
              </a:ext>
            </a:extLst>
          </p:cNvPr>
          <p:cNvSpPr>
            <a:spLocks xmlns:a="http://schemas.openxmlformats.org/drawingml/2006/main" noGrp="1"/>
          </p:cNvSpPr>
          <p:nvPr/>
        </p:nvSpPr>
        <p:spPr>
          <a:xfrm xmlns:a="http://schemas.openxmlformats.org/drawingml/2006/main">
            <a:off x="685800" y="33337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87E83"/>
                </a:solidFill>
              </a:defRPr>
            </a:defPPr>
            <a:lvl1pPr>
              <a:defRPr sz="1350" b="1">
                <a:solidFill>
                  <a:srgbClr val="087E83"/>
                </a:solidFill>
              </a:defRPr>
            </a:lvl1pPr>
            <a:lvl2pPr>
              <a:defRPr sz="1350" b="1">
                <a:solidFill>
                  <a:srgbClr val="087E83"/>
                </a:solidFill>
              </a:defRPr>
            </a:lvl2pPr>
            <a:lvl3pPr>
              <a:defRPr sz="1350" b="1">
                <a:solidFill>
                  <a:srgbClr val="087E83"/>
                </a:solidFill>
              </a:defRPr>
            </a:lvl3pPr>
            <a:lvl4pPr>
              <a:defRPr sz="1350" b="1">
                <a:solidFill>
                  <a:srgbClr val="087E83"/>
                </a:solidFill>
              </a:defRPr>
            </a:lvl4pPr>
            <a:lvl5pPr>
              <a:defRPr sz="1350" b="1">
                <a:solidFill>
                  <a:srgbClr val="087E83"/>
                </a:solidFill>
              </a:defRPr>
            </a:lvl5pPr>
            <a:lvl6pPr>
              <a:defRPr sz="1350" b="1">
                <a:solidFill>
                  <a:srgbClr val="087E83"/>
                </a:solidFill>
              </a:defRPr>
            </a:lvl6pPr>
            <a:lvl7pPr>
              <a:defRPr sz="1350" b="1">
                <a:solidFill>
                  <a:srgbClr val="087E83"/>
                </a:solidFill>
              </a:defRPr>
            </a:lvl7pPr>
            <a:lvl8pPr>
              <a:defRPr sz="1350" b="1">
                <a:solidFill>
                  <a:srgbClr val="087E83"/>
                </a:solidFill>
              </a:defRPr>
            </a:lvl8pPr>
            <a:lvl9pPr>
              <a:defRPr sz="1350" b="1">
                <a:solidFill>
                  <a:srgbClr val="087E83"/>
                </a:solidFill>
              </a:defRPr>
            </a:lvl9pPr>
          </a:lstStyle>
          <a:p xmlns:a="http://schemas.openxmlformats.org/drawingml/2006/main">
            <a:pPr>
              <a:defRPr sz="1350" b="1">
                <a:solidFill>
                  <a:srgbClr val="087E83"/>
                </a:solidFill>
              </a:defRPr>
            </a:pPr>
            <a:r>
              <a:rPr sz="1350" b="1">
                <a:solidFill>
                  <a:srgbClr val="087E83"/>
                </a:solidFill>
              </a:rPr>
              <a:t>03</a:t>
            </a:r>
          </a:p>
        </p:txBody>
      </p:sp>
      <p:sp>
        <p:nvSpPr>
          <p:cNvPr id="2" name="">
            <a:extLst xmlns:a="http://schemas.openxmlformats.org/drawingml/2006/main">
              <a:ext uri="{FF2B5EF4-FFF2-40B4-BE49-F238E27FC236}">
                <a16:creationId xmlns:a16="http://schemas.microsoft.com/office/drawing/2014/main" id="{1B50D16A-7732-43A7-A9DD-AD435DAAA682}"/>
              </a:ext>
            </a:extLst>
          </p:cNvPr>
          <p:cNvSpPr>
            <a:spLocks xmlns:a="http://schemas.openxmlformats.org/drawingml/2006/main" noGrp="1"/>
          </p:cNvSpPr>
          <p:nvPr/>
        </p:nvSpPr>
        <p:spPr>
          <a:xfrm xmlns:a="http://schemas.openxmlformats.org/drawingml/2006/main">
            <a:off x="685800" y="8572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1283F"/>
                </a:solidFill>
              </a:defRPr>
            </a:defPPr>
            <a:lvl1pPr>
              <a:defRPr sz="3300" b="1">
                <a:solidFill>
                  <a:srgbClr val="11283F"/>
                </a:solidFill>
              </a:defRPr>
            </a:lvl1pPr>
            <a:lvl2pPr>
              <a:defRPr sz="3300" b="1">
                <a:solidFill>
                  <a:srgbClr val="11283F"/>
                </a:solidFill>
              </a:defRPr>
            </a:lvl2pPr>
            <a:lvl3pPr>
              <a:defRPr sz="3300" b="1">
                <a:solidFill>
                  <a:srgbClr val="11283F"/>
                </a:solidFill>
              </a:defRPr>
            </a:lvl3pPr>
            <a:lvl4pPr>
              <a:defRPr sz="3300" b="1">
                <a:solidFill>
                  <a:srgbClr val="11283F"/>
                </a:solidFill>
              </a:defRPr>
            </a:lvl4pPr>
            <a:lvl5pPr>
              <a:defRPr sz="3300" b="1">
                <a:solidFill>
                  <a:srgbClr val="11283F"/>
                </a:solidFill>
              </a:defRPr>
            </a:lvl5pPr>
            <a:lvl6pPr>
              <a:defRPr sz="3300" b="1">
                <a:solidFill>
                  <a:srgbClr val="11283F"/>
                </a:solidFill>
              </a:defRPr>
            </a:lvl6pPr>
            <a:lvl7pPr>
              <a:defRPr sz="3300" b="1">
                <a:solidFill>
                  <a:srgbClr val="11283F"/>
                </a:solidFill>
              </a:defRPr>
            </a:lvl7pPr>
            <a:lvl8pPr>
              <a:defRPr sz="3300" b="1">
                <a:solidFill>
                  <a:srgbClr val="11283F"/>
                </a:solidFill>
              </a:defRPr>
            </a:lvl8pPr>
            <a:lvl9pPr>
              <a:defRPr sz="3300" b="1">
                <a:solidFill>
                  <a:srgbClr val="11283F"/>
                </a:solidFill>
              </a:defRPr>
            </a:lvl9pPr>
          </a:lstStyle>
          <a:p xmlns:a="http://schemas.openxmlformats.org/drawingml/2006/main">
            <a:pPr>
              <a:defRPr sz="3300" b="1">
                <a:solidFill>
                  <a:srgbClr val="11283F"/>
                </a:solidFill>
              </a:defRPr>
            </a:pPr>
            <a:r>
              <a:rPr sz="3300" b="1">
                <a:solidFill>
                  <a:srgbClr val="11283F"/>
                </a:solidFill>
              </a:rPr>
              <a:t>Feature engineering and preprocessing</a:t>
            </a:r>
          </a:p>
        </p:txBody>
      </p:sp>
      <p:sp>
        <p:nvSpPr>
          <p:cNvPr id="3" name="">
            <a:extLst xmlns:a="http://schemas.openxmlformats.org/drawingml/2006/main">
              <a:ext uri="{FF2B5EF4-FFF2-40B4-BE49-F238E27FC236}">
                <a16:creationId xmlns:a16="http://schemas.microsoft.com/office/drawing/2014/main" id="{895F630A-834E-4C61-A9A2-D796BA86158C}"/>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374"/>
                </a:solidFill>
              </a:defRPr>
            </a:defPPr>
            <a:lvl1pPr>
              <a:defRPr sz="1350" b="0">
                <a:solidFill>
                  <a:srgbClr val="536374"/>
                </a:solidFill>
              </a:defRPr>
            </a:lvl1pPr>
            <a:lvl2pPr>
              <a:defRPr sz="1350" b="0">
                <a:solidFill>
                  <a:srgbClr val="536374"/>
                </a:solidFill>
              </a:defRPr>
            </a:lvl2pPr>
            <a:lvl3pPr>
              <a:defRPr sz="1350" b="0">
                <a:solidFill>
                  <a:srgbClr val="536374"/>
                </a:solidFill>
              </a:defRPr>
            </a:lvl3pPr>
            <a:lvl4pPr>
              <a:defRPr sz="1350" b="0">
                <a:solidFill>
                  <a:srgbClr val="536374"/>
                </a:solidFill>
              </a:defRPr>
            </a:lvl4pPr>
            <a:lvl5pPr>
              <a:defRPr sz="1350" b="0">
                <a:solidFill>
                  <a:srgbClr val="536374"/>
                </a:solidFill>
              </a:defRPr>
            </a:lvl5pPr>
            <a:lvl6pPr>
              <a:defRPr sz="1350" b="0">
                <a:solidFill>
                  <a:srgbClr val="536374"/>
                </a:solidFill>
              </a:defRPr>
            </a:lvl6pPr>
            <a:lvl7pPr>
              <a:defRPr sz="1350" b="0">
                <a:solidFill>
                  <a:srgbClr val="536374"/>
                </a:solidFill>
              </a:defRPr>
            </a:lvl7pPr>
            <a:lvl8pPr>
              <a:defRPr sz="1350" b="0">
                <a:solidFill>
                  <a:srgbClr val="536374"/>
                </a:solidFill>
              </a:defRPr>
            </a:lvl8pPr>
            <a:lvl9pPr>
              <a:defRPr sz="1350" b="0">
                <a:solidFill>
                  <a:srgbClr val="536374"/>
                </a:solidFill>
              </a:defRPr>
            </a:lvl9pPr>
          </a:lstStyle>
          <a:p xmlns:a="http://schemas.openxmlformats.org/drawingml/2006/main">
            <a:pPr>
              <a:defRPr sz="1350" b="0">
                <a:solidFill>
                  <a:srgbClr val="536374"/>
                </a:solidFill>
              </a:defRPr>
            </a:pPr>
            <a:r>
              <a:rPr sz="1350" b="0">
                <a:solidFill>
                  <a:srgbClr val="536374"/>
                </a:solidFill>
              </a:rPr>
              <a:t>3 / 8</a:t>
            </a:r>
          </a:p>
        </p:txBody>
      </p:sp>
      <p:sp>
        <p:nvSpPr>
          <p:cNvPr id="4" name="">
            <a:extLst xmlns:a="http://schemas.openxmlformats.org/drawingml/2006/main">
              <a:ext uri="{FF2B5EF4-FFF2-40B4-BE49-F238E27FC236}">
                <a16:creationId xmlns:a16="http://schemas.microsoft.com/office/drawing/2014/main" id="{DDD218AF-DECE-4D00-AA56-D63F429108E9}"/>
              </a:ext>
            </a:extLst>
          </p:cNvPr>
          <p:cNvSpPr>
            <a:spLocks xmlns:a="http://schemas.openxmlformats.org/drawingml/2006/main" noGrp="1"/>
          </p:cNvSpPr>
          <p:nvPr/>
        </p:nvSpPr>
        <p:spPr>
          <a:xfrm xmlns:a="http://schemas.openxmlformats.org/drawingml/2006/main">
            <a:off x="685800" y="209550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087E83"/>
                </a:solidFill>
              </a:defRPr>
            </a:defPPr>
            <a:lvl1pPr>
              <a:defRPr sz="3000" b="1">
                <a:solidFill>
                  <a:srgbClr val="087E83"/>
                </a:solidFill>
              </a:defRPr>
            </a:lvl1pPr>
            <a:lvl2pPr>
              <a:defRPr sz="3000" b="1">
                <a:solidFill>
                  <a:srgbClr val="087E83"/>
                </a:solidFill>
              </a:defRPr>
            </a:lvl2pPr>
            <a:lvl3pPr>
              <a:defRPr sz="3000" b="1">
                <a:solidFill>
                  <a:srgbClr val="087E83"/>
                </a:solidFill>
              </a:defRPr>
            </a:lvl3pPr>
            <a:lvl4pPr>
              <a:defRPr sz="3000" b="1">
                <a:solidFill>
                  <a:srgbClr val="087E83"/>
                </a:solidFill>
              </a:defRPr>
            </a:lvl4pPr>
            <a:lvl5pPr>
              <a:defRPr sz="3000" b="1">
                <a:solidFill>
                  <a:srgbClr val="087E83"/>
                </a:solidFill>
              </a:defRPr>
            </a:lvl5pPr>
            <a:lvl6pPr>
              <a:defRPr sz="3000" b="1">
                <a:solidFill>
                  <a:srgbClr val="087E83"/>
                </a:solidFill>
              </a:defRPr>
            </a:lvl6pPr>
            <a:lvl7pPr>
              <a:defRPr sz="3000" b="1">
                <a:solidFill>
                  <a:srgbClr val="087E83"/>
                </a:solidFill>
              </a:defRPr>
            </a:lvl7pPr>
            <a:lvl8pPr>
              <a:defRPr sz="3000" b="1">
                <a:solidFill>
                  <a:srgbClr val="087E83"/>
                </a:solidFill>
              </a:defRPr>
            </a:lvl8pPr>
            <a:lvl9pPr>
              <a:defRPr sz="3000" b="1">
                <a:solidFill>
                  <a:srgbClr val="087E83"/>
                </a:solidFill>
              </a:defRPr>
            </a:lvl9pPr>
          </a:lstStyle>
          <a:p xmlns:a="http://schemas.openxmlformats.org/drawingml/2006/main">
            <a:pPr>
              <a:defRPr sz="3000" b="1">
                <a:solidFill>
                  <a:srgbClr val="087E83"/>
                </a:solidFill>
              </a:defRPr>
            </a:pPr>
            <a:r>
              <a:rPr sz="3000" b="1">
                <a:solidFill>
                  <a:srgbClr val="087E83"/>
                </a:solidFill>
              </a:rPr>
              <a:t>Credit / income</a:t>
            </a:r>
          </a:p>
        </p:txBody>
      </p:sp>
      <p:sp>
        <p:nvSpPr>
          <p:cNvPr id="5" name="">
            <a:extLst xmlns:a="http://schemas.openxmlformats.org/drawingml/2006/main">
              <a:ext uri="{FF2B5EF4-FFF2-40B4-BE49-F238E27FC236}">
                <a16:creationId xmlns:a16="http://schemas.microsoft.com/office/drawing/2014/main" id="{175263D8-82F1-42BF-AF31-11F36DD02023}"/>
              </a:ext>
            </a:extLst>
          </p:cNvPr>
          <p:cNvSpPr>
            <a:spLocks xmlns:a="http://schemas.openxmlformats.org/drawingml/2006/main" noGrp="1"/>
          </p:cNvSpPr>
          <p:nvPr/>
        </p:nvSpPr>
        <p:spPr>
          <a:xfrm xmlns:a="http://schemas.openxmlformats.org/drawingml/2006/main">
            <a:off x="685800" y="276225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1283F"/>
                </a:solidFill>
              </a:defRPr>
            </a:defPPr>
            <a:lvl1pPr>
              <a:defRPr sz="2100" b="0">
                <a:solidFill>
                  <a:srgbClr val="11283F"/>
                </a:solidFill>
              </a:defRPr>
            </a:lvl1pPr>
            <a:lvl2pPr>
              <a:defRPr sz="2100" b="0">
                <a:solidFill>
                  <a:srgbClr val="11283F"/>
                </a:solidFill>
              </a:defRPr>
            </a:lvl2pPr>
            <a:lvl3pPr>
              <a:defRPr sz="2100" b="0">
                <a:solidFill>
                  <a:srgbClr val="11283F"/>
                </a:solidFill>
              </a:defRPr>
            </a:lvl3pPr>
            <a:lvl4pPr>
              <a:defRPr sz="2100" b="0">
                <a:solidFill>
                  <a:srgbClr val="11283F"/>
                </a:solidFill>
              </a:defRPr>
            </a:lvl4pPr>
            <a:lvl5pPr>
              <a:defRPr sz="2100" b="0">
                <a:solidFill>
                  <a:srgbClr val="11283F"/>
                </a:solidFill>
              </a:defRPr>
            </a:lvl5pPr>
            <a:lvl6pPr>
              <a:defRPr sz="2100" b="0">
                <a:solidFill>
                  <a:srgbClr val="11283F"/>
                </a:solidFill>
              </a:defRPr>
            </a:lvl6pPr>
            <a:lvl7pPr>
              <a:defRPr sz="2100" b="0">
                <a:solidFill>
                  <a:srgbClr val="11283F"/>
                </a:solidFill>
              </a:defRPr>
            </a:lvl7pPr>
            <a:lvl8pPr>
              <a:defRPr sz="2100" b="0">
                <a:solidFill>
                  <a:srgbClr val="11283F"/>
                </a:solidFill>
              </a:defRPr>
            </a:lvl8pPr>
            <a:lvl9pPr>
              <a:defRPr sz="2100" b="0">
                <a:solidFill>
                  <a:srgbClr val="11283F"/>
                </a:solidFill>
              </a:defRPr>
            </a:lvl9pPr>
          </a:lstStyle>
          <a:p xmlns:a="http://schemas.openxmlformats.org/drawingml/2006/main">
            <a:pPr>
              <a:defRPr sz="2100" b="0">
                <a:solidFill>
                  <a:srgbClr val="11283F"/>
                </a:solidFill>
              </a:defRPr>
            </a:pPr>
            <a:r>
              <a:rPr sz="2100" b="0">
                <a:solidFill>
                  <a:srgbClr val="11283F"/>
                </a:solidFill>
              </a:rPr>
              <a:t>Same loan amount, different repayment pressure</a:t>
            </a:r>
          </a:p>
        </p:txBody>
      </p:sp>
      <p:sp>
        <p:nvSpPr>
          <p:cNvPr id="6" name="">
            <a:extLst xmlns:a="http://schemas.openxmlformats.org/drawingml/2006/main">
              <a:ext uri="{FF2B5EF4-FFF2-40B4-BE49-F238E27FC236}">
                <a16:creationId xmlns:a16="http://schemas.microsoft.com/office/drawing/2014/main" id="{81C757D3-822E-468C-90F8-8AC6D3F4C7C9}"/>
              </a:ext>
            </a:extLst>
          </p:cNvPr>
          <p:cNvSpPr>
            <a:spLocks xmlns:a="http://schemas.openxmlformats.org/drawingml/2006/main" noGrp="1"/>
          </p:cNvSpPr>
          <p:nvPr/>
        </p:nvSpPr>
        <p:spPr>
          <a:xfrm xmlns:a="http://schemas.openxmlformats.org/drawingml/2006/main">
            <a:off x="685800" y="4048125"/>
            <a:ext cx="495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1283F"/>
                </a:solidFill>
              </a:defRPr>
            </a:defPPr>
            <a:lvl1pPr>
              <a:defRPr sz="2100" b="0">
                <a:solidFill>
                  <a:srgbClr val="11283F"/>
                </a:solidFill>
              </a:defRPr>
            </a:lvl1pPr>
            <a:lvl2pPr>
              <a:defRPr sz="2100" b="0">
                <a:solidFill>
                  <a:srgbClr val="11283F"/>
                </a:solidFill>
              </a:defRPr>
            </a:lvl2pPr>
            <a:lvl3pPr>
              <a:defRPr sz="2100" b="0">
                <a:solidFill>
                  <a:srgbClr val="11283F"/>
                </a:solidFill>
              </a:defRPr>
            </a:lvl3pPr>
            <a:lvl4pPr>
              <a:defRPr sz="2100" b="0">
                <a:solidFill>
                  <a:srgbClr val="11283F"/>
                </a:solidFill>
              </a:defRPr>
            </a:lvl4pPr>
            <a:lvl5pPr>
              <a:defRPr sz="2100" b="0">
                <a:solidFill>
                  <a:srgbClr val="11283F"/>
                </a:solidFill>
              </a:defRPr>
            </a:lvl5pPr>
            <a:lvl6pPr>
              <a:defRPr sz="2100" b="0">
                <a:solidFill>
                  <a:srgbClr val="11283F"/>
                </a:solidFill>
              </a:defRPr>
            </a:lvl6pPr>
            <a:lvl7pPr>
              <a:defRPr sz="2100" b="0">
                <a:solidFill>
                  <a:srgbClr val="11283F"/>
                </a:solidFill>
              </a:defRPr>
            </a:lvl7pPr>
            <a:lvl8pPr>
              <a:defRPr sz="2100" b="0">
                <a:solidFill>
                  <a:srgbClr val="11283F"/>
                </a:solidFill>
              </a:defRPr>
            </a:lvl8pPr>
            <a:lvl9pPr>
              <a:defRPr sz="2100" b="0">
                <a:solidFill>
                  <a:srgbClr val="11283F"/>
                </a:solidFill>
              </a:defRPr>
            </a:lvl9pPr>
          </a:lstStyle>
          <a:p xmlns:a="http://schemas.openxmlformats.org/drawingml/2006/main">
            <a:pPr>
              <a:defRPr sz="2100" b="0">
                <a:solidFill>
                  <a:srgbClr val="11283F"/>
                </a:solidFill>
              </a:defRPr>
            </a:pPr>
            <a:r>
              <a:rPr sz="2100" b="0">
                <a:solidFill>
                  <a:srgbClr val="11283F"/>
                </a:solidFill>
              </a:rPr>
              <a:t>365243 employment sentinel</a:t>
            </a:r>
          </a:p>
          <a:p xmlns:a="http://schemas.openxmlformats.org/drawingml/2006/main">
            <a:pPr>
              <a:defRPr sz="2100" b="0">
                <a:solidFill>
                  <a:srgbClr val="11283F"/>
                </a:solidFill>
              </a:defRPr>
            </a:pPr>
            <a:r>
              <a:rPr sz="2100" b="0">
                <a:solidFill>
                  <a:srgbClr val="11283F"/>
                </a:solidFill>
              </a:rPr>
              <a:t>Missing value + separate indicator</a:t>
            </a:r>
          </a:p>
        </p:txBody>
      </p:sp>
      <p:sp>
        <p:nvSpPr>
          <p:cNvPr id="7" name="">
            <a:extLst xmlns:a="http://schemas.openxmlformats.org/drawingml/2006/main">
              <a:ext uri="{FF2B5EF4-FFF2-40B4-BE49-F238E27FC236}">
                <a16:creationId xmlns:a16="http://schemas.microsoft.com/office/drawing/2014/main" id="{1496586C-8459-406C-83F7-CB1F4E647336}"/>
              </a:ext>
            </a:extLst>
          </p:cNvPr>
          <p:cNvSpPr>
            <a:spLocks xmlns:a="http://schemas.openxmlformats.org/drawingml/2006/main" noGrp="1"/>
          </p:cNvSpPr>
          <p:nvPr/>
        </p:nvSpPr>
        <p:spPr>
          <a:xfrm xmlns:a="http://schemas.openxmlformats.org/drawingml/2006/main">
            <a:off x="6572250" y="2095500"/>
            <a:ext cx="4762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1283F"/>
                </a:solidFill>
              </a:defRPr>
            </a:defPPr>
            <a:lvl1pPr>
              <a:defRPr sz="2100" b="0">
                <a:solidFill>
                  <a:srgbClr val="11283F"/>
                </a:solidFill>
              </a:defRPr>
            </a:lvl1pPr>
            <a:lvl2pPr>
              <a:defRPr sz="2100" b="0">
                <a:solidFill>
                  <a:srgbClr val="11283F"/>
                </a:solidFill>
              </a:defRPr>
            </a:lvl2pPr>
            <a:lvl3pPr>
              <a:defRPr sz="2100" b="0">
                <a:solidFill>
                  <a:srgbClr val="11283F"/>
                </a:solidFill>
              </a:defRPr>
            </a:lvl3pPr>
            <a:lvl4pPr>
              <a:defRPr sz="2100" b="0">
                <a:solidFill>
                  <a:srgbClr val="11283F"/>
                </a:solidFill>
              </a:defRPr>
            </a:lvl4pPr>
            <a:lvl5pPr>
              <a:defRPr sz="2100" b="0">
                <a:solidFill>
                  <a:srgbClr val="11283F"/>
                </a:solidFill>
              </a:defRPr>
            </a:lvl5pPr>
            <a:lvl6pPr>
              <a:defRPr sz="2100" b="0">
                <a:solidFill>
                  <a:srgbClr val="11283F"/>
                </a:solidFill>
              </a:defRPr>
            </a:lvl6pPr>
            <a:lvl7pPr>
              <a:defRPr sz="2100" b="0">
                <a:solidFill>
                  <a:srgbClr val="11283F"/>
                </a:solidFill>
              </a:defRPr>
            </a:lvl7pPr>
            <a:lvl8pPr>
              <a:defRPr sz="2100" b="0">
                <a:solidFill>
                  <a:srgbClr val="11283F"/>
                </a:solidFill>
              </a:defRPr>
            </a:lvl8pPr>
            <a:lvl9pPr>
              <a:defRPr sz="2100" b="0">
                <a:solidFill>
                  <a:srgbClr val="11283F"/>
                </a:solidFill>
              </a:defRPr>
            </a:lvl9pPr>
          </a:lstStyle>
          <a:p xmlns:a="http://schemas.openxmlformats.org/drawingml/2006/main">
            <a:pPr>
              <a:defRPr sz="2100" b="0">
                <a:solidFill>
                  <a:srgbClr val="11283F"/>
                </a:solidFill>
              </a:defRPr>
            </a:pPr>
            <a:r>
              <a:rPr sz="2100" b="0">
                <a:solidFill>
                  <a:srgbClr val="11283F"/>
                </a:solidFill>
              </a:rPr>
              <a:t>Numeric variables</a:t>
            </a:r>
          </a:p>
          <a:p xmlns:a="http://schemas.openxmlformats.org/drawingml/2006/main">
            <a:pPr>
              <a:defRPr sz="2100" b="0">
                <a:solidFill>
                  <a:srgbClr val="11283F"/>
                </a:solidFill>
              </a:defRPr>
            </a:pPr>
            <a:r>
              <a:rPr sz="2100" b="0">
                <a:solidFill>
                  <a:srgbClr val="11283F"/>
                </a:solidFill>
              </a:rPr>
              <a:t>Median imputation and scaling</a:t>
            </a:r>
          </a:p>
          <a:p xmlns:a="http://schemas.openxmlformats.org/drawingml/2006/main">
            <a:r>
              <a:t/>
            </a:r>
          </a:p>
          <a:p xmlns:a="http://schemas.openxmlformats.org/drawingml/2006/main">
            <a:pPr>
              <a:defRPr sz="2100" b="0">
                <a:solidFill>
                  <a:srgbClr val="11283F"/>
                </a:solidFill>
              </a:defRPr>
            </a:pPr>
            <a:r>
              <a:rPr sz="2100" b="0">
                <a:solidFill>
                  <a:srgbClr val="11283F"/>
                </a:solidFill>
              </a:rPr>
              <a:t>Categorical variables</a:t>
            </a:r>
          </a:p>
          <a:p xmlns:a="http://schemas.openxmlformats.org/drawingml/2006/main">
            <a:pPr>
              <a:defRPr sz="2100" b="0">
                <a:solidFill>
                  <a:srgbClr val="11283F"/>
                </a:solidFill>
              </a:defRPr>
            </a:pPr>
            <a:r>
              <a:rPr sz="2100" b="0">
                <a:solidFill>
                  <a:srgbClr val="11283F"/>
                </a:solidFill>
              </a:rPr>
              <a:t>Missing category and one-hot encoding</a:t>
            </a:r>
          </a:p>
        </p:txBody>
      </p:sp>
      <p:sp>
        <p:nvSpPr>
          <p:cNvPr id="8" name="">
            <a:extLst xmlns:a="http://schemas.openxmlformats.org/drawingml/2006/main">
              <a:ext uri="{FF2B5EF4-FFF2-40B4-BE49-F238E27FC236}">
                <a16:creationId xmlns:a16="http://schemas.microsoft.com/office/drawing/2014/main" id="{3A108EE6-EBCB-418F-850B-D24EA043339C}"/>
              </a:ext>
            </a:extLst>
          </p:cNvPr>
          <p:cNvSpPr>
            <a:spLocks xmlns:a="http://schemas.openxmlformats.org/drawingml/2006/main" noGrp="1"/>
          </p:cNvSpPr>
          <p:nvPr/>
        </p:nvSpPr>
        <p:spPr>
          <a:xfrm xmlns:a="http://schemas.openxmlformats.org/drawingml/2006/main">
            <a:off x="685800" y="55721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087E83"/>
                </a:solidFill>
              </a:defRPr>
            </a:defPPr>
            <a:lvl1pPr>
              <a:defRPr sz="2175" b="1">
                <a:solidFill>
                  <a:srgbClr val="087E83"/>
                </a:solidFill>
              </a:defRPr>
            </a:lvl1pPr>
            <a:lvl2pPr>
              <a:defRPr sz="2175" b="1">
                <a:solidFill>
                  <a:srgbClr val="087E83"/>
                </a:solidFill>
              </a:defRPr>
            </a:lvl2pPr>
            <a:lvl3pPr>
              <a:defRPr sz="2175" b="1">
                <a:solidFill>
                  <a:srgbClr val="087E83"/>
                </a:solidFill>
              </a:defRPr>
            </a:lvl3pPr>
            <a:lvl4pPr>
              <a:defRPr sz="2175" b="1">
                <a:solidFill>
                  <a:srgbClr val="087E83"/>
                </a:solidFill>
              </a:defRPr>
            </a:lvl4pPr>
            <a:lvl5pPr>
              <a:defRPr sz="2175" b="1">
                <a:solidFill>
                  <a:srgbClr val="087E83"/>
                </a:solidFill>
              </a:defRPr>
            </a:lvl5pPr>
            <a:lvl6pPr>
              <a:defRPr sz="2175" b="1">
                <a:solidFill>
                  <a:srgbClr val="087E83"/>
                </a:solidFill>
              </a:defRPr>
            </a:lvl6pPr>
            <a:lvl7pPr>
              <a:defRPr sz="2175" b="1">
                <a:solidFill>
                  <a:srgbClr val="087E83"/>
                </a:solidFill>
              </a:defRPr>
            </a:lvl7pPr>
            <a:lvl8pPr>
              <a:defRPr sz="2175" b="1">
                <a:solidFill>
                  <a:srgbClr val="087E83"/>
                </a:solidFill>
              </a:defRPr>
            </a:lvl8pPr>
            <a:lvl9pPr>
              <a:defRPr sz="2175" b="1">
                <a:solidFill>
                  <a:srgbClr val="087E83"/>
                </a:solidFill>
              </a:defRPr>
            </a:lvl9pPr>
          </a:lstStyle>
          <a:p xmlns:a="http://schemas.openxmlformats.org/drawingml/2006/main">
            <a:pPr>
              <a:defRPr sz="2175" b="1">
                <a:solidFill>
                  <a:srgbClr val="087E83"/>
                </a:solidFill>
              </a:defRPr>
            </a:pPr>
            <a:r>
              <a:rPr sz="2175" b="1">
                <a:solidFill>
                  <a:srgbClr val="087E83"/>
                </a:solidFill>
              </a:rPr>
              <a:t>Each training fold fits its own preprocessing pipeline</a:t>
            </a:r>
          </a:p>
        </p:txBody>
      </p:sp>
    </p:spTree>
    <p:extLst>
      <p:ext uri="{BB962C8B-B14F-4D97-AF65-F5344CB8AC3E}">
        <p14:creationId xmlns:p14="http://schemas.microsoft.com/office/powerpoint/2010/main" val="1476397912"/>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210A8E-92B2-4B6E-A1D3-05661C731953}"/>
              </a:ext>
            </a:extLst>
          </p:cNvPr>
          <p:cNvSpPr>
            <a:spLocks xmlns:a="http://schemas.openxmlformats.org/drawingml/2006/main" noGrp="1"/>
          </p:cNvSpPr>
          <p:nvPr/>
        </p:nvSpPr>
        <p:spPr>
          <a:xfrm xmlns:a="http://schemas.openxmlformats.org/drawingml/2006/main">
            <a:off x="685800" y="33337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87E83"/>
                </a:solidFill>
              </a:defRPr>
            </a:defPPr>
            <a:lvl1pPr>
              <a:defRPr sz="1350" b="1">
                <a:solidFill>
                  <a:srgbClr val="087E83"/>
                </a:solidFill>
              </a:defRPr>
            </a:lvl1pPr>
            <a:lvl2pPr>
              <a:defRPr sz="1350" b="1">
                <a:solidFill>
                  <a:srgbClr val="087E83"/>
                </a:solidFill>
              </a:defRPr>
            </a:lvl2pPr>
            <a:lvl3pPr>
              <a:defRPr sz="1350" b="1">
                <a:solidFill>
                  <a:srgbClr val="087E83"/>
                </a:solidFill>
              </a:defRPr>
            </a:lvl3pPr>
            <a:lvl4pPr>
              <a:defRPr sz="1350" b="1">
                <a:solidFill>
                  <a:srgbClr val="087E83"/>
                </a:solidFill>
              </a:defRPr>
            </a:lvl4pPr>
            <a:lvl5pPr>
              <a:defRPr sz="1350" b="1">
                <a:solidFill>
                  <a:srgbClr val="087E83"/>
                </a:solidFill>
              </a:defRPr>
            </a:lvl5pPr>
            <a:lvl6pPr>
              <a:defRPr sz="1350" b="1">
                <a:solidFill>
                  <a:srgbClr val="087E83"/>
                </a:solidFill>
              </a:defRPr>
            </a:lvl6pPr>
            <a:lvl7pPr>
              <a:defRPr sz="1350" b="1">
                <a:solidFill>
                  <a:srgbClr val="087E83"/>
                </a:solidFill>
              </a:defRPr>
            </a:lvl7pPr>
            <a:lvl8pPr>
              <a:defRPr sz="1350" b="1">
                <a:solidFill>
                  <a:srgbClr val="087E83"/>
                </a:solidFill>
              </a:defRPr>
            </a:lvl8pPr>
            <a:lvl9pPr>
              <a:defRPr sz="1350" b="1">
                <a:solidFill>
                  <a:srgbClr val="087E83"/>
                </a:solidFill>
              </a:defRPr>
            </a:lvl9pPr>
          </a:lstStyle>
          <a:p xmlns:a="http://schemas.openxmlformats.org/drawingml/2006/main">
            <a:pPr>
              <a:defRPr sz="1350" b="1">
                <a:solidFill>
                  <a:srgbClr val="087E83"/>
                </a:solidFill>
              </a:defRPr>
            </a:pPr>
            <a:r>
              <a:rPr sz="1350" b="1">
                <a:solidFill>
                  <a:srgbClr val="087E83"/>
                </a:solidFill>
              </a:rPr>
              <a:t>04</a:t>
            </a:r>
          </a:p>
        </p:txBody>
      </p:sp>
      <p:sp>
        <p:nvSpPr>
          <p:cNvPr id="2" name="">
            <a:extLst xmlns:a="http://schemas.openxmlformats.org/drawingml/2006/main">
              <a:ext uri="{FF2B5EF4-FFF2-40B4-BE49-F238E27FC236}">
                <a16:creationId xmlns:a16="http://schemas.microsoft.com/office/drawing/2014/main" id="{B72A7E35-8455-424B-87B6-DDC52C4647D6}"/>
              </a:ext>
            </a:extLst>
          </p:cNvPr>
          <p:cNvSpPr>
            <a:spLocks xmlns:a="http://schemas.openxmlformats.org/drawingml/2006/main" noGrp="1"/>
          </p:cNvSpPr>
          <p:nvPr/>
        </p:nvSpPr>
        <p:spPr>
          <a:xfrm xmlns:a="http://schemas.openxmlformats.org/drawingml/2006/main">
            <a:off x="685800" y="8572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1283F"/>
                </a:solidFill>
              </a:defRPr>
            </a:defPPr>
            <a:lvl1pPr>
              <a:defRPr sz="3300" b="1">
                <a:solidFill>
                  <a:srgbClr val="11283F"/>
                </a:solidFill>
              </a:defRPr>
            </a:lvl1pPr>
            <a:lvl2pPr>
              <a:defRPr sz="3300" b="1">
                <a:solidFill>
                  <a:srgbClr val="11283F"/>
                </a:solidFill>
              </a:defRPr>
            </a:lvl2pPr>
            <a:lvl3pPr>
              <a:defRPr sz="3300" b="1">
                <a:solidFill>
                  <a:srgbClr val="11283F"/>
                </a:solidFill>
              </a:defRPr>
            </a:lvl3pPr>
            <a:lvl4pPr>
              <a:defRPr sz="3300" b="1">
                <a:solidFill>
                  <a:srgbClr val="11283F"/>
                </a:solidFill>
              </a:defRPr>
            </a:lvl4pPr>
            <a:lvl5pPr>
              <a:defRPr sz="3300" b="1">
                <a:solidFill>
                  <a:srgbClr val="11283F"/>
                </a:solidFill>
              </a:defRPr>
            </a:lvl5pPr>
            <a:lvl6pPr>
              <a:defRPr sz="3300" b="1">
                <a:solidFill>
                  <a:srgbClr val="11283F"/>
                </a:solidFill>
              </a:defRPr>
            </a:lvl6pPr>
            <a:lvl7pPr>
              <a:defRPr sz="3300" b="1">
                <a:solidFill>
                  <a:srgbClr val="11283F"/>
                </a:solidFill>
              </a:defRPr>
            </a:lvl7pPr>
            <a:lvl8pPr>
              <a:defRPr sz="3300" b="1">
                <a:solidFill>
                  <a:srgbClr val="11283F"/>
                </a:solidFill>
              </a:defRPr>
            </a:lvl8pPr>
            <a:lvl9pPr>
              <a:defRPr sz="3300" b="1">
                <a:solidFill>
                  <a:srgbClr val="11283F"/>
                </a:solidFill>
              </a:defRPr>
            </a:lvl9pPr>
          </a:lstStyle>
          <a:p xmlns:a="http://schemas.openxmlformats.org/drawingml/2006/main">
            <a:pPr>
              <a:defRPr sz="3300" b="1">
                <a:solidFill>
                  <a:srgbClr val="11283F"/>
                </a:solidFill>
              </a:defRPr>
            </a:pPr>
            <a:r>
              <a:rPr sz="3300" b="1">
                <a:solidFill>
                  <a:srgbClr val="11283F"/>
                </a:solidFill>
              </a:rPr>
              <a:t>Model comparison</a:t>
            </a:r>
          </a:p>
        </p:txBody>
      </p:sp>
      <p:sp>
        <p:nvSpPr>
          <p:cNvPr id="3" name="">
            <a:extLst xmlns:a="http://schemas.openxmlformats.org/drawingml/2006/main">
              <a:ext uri="{FF2B5EF4-FFF2-40B4-BE49-F238E27FC236}">
                <a16:creationId xmlns:a16="http://schemas.microsoft.com/office/drawing/2014/main" id="{98038677-7944-4C1C-B22D-AED618DD1A04}"/>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374"/>
                </a:solidFill>
              </a:defRPr>
            </a:defPPr>
            <a:lvl1pPr>
              <a:defRPr sz="1350" b="0">
                <a:solidFill>
                  <a:srgbClr val="536374"/>
                </a:solidFill>
              </a:defRPr>
            </a:lvl1pPr>
            <a:lvl2pPr>
              <a:defRPr sz="1350" b="0">
                <a:solidFill>
                  <a:srgbClr val="536374"/>
                </a:solidFill>
              </a:defRPr>
            </a:lvl2pPr>
            <a:lvl3pPr>
              <a:defRPr sz="1350" b="0">
                <a:solidFill>
                  <a:srgbClr val="536374"/>
                </a:solidFill>
              </a:defRPr>
            </a:lvl3pPr>
            <a:lvl4pPr>
              <a:defRPr sz="1350" b="0">
                <a:solidFill>
                  <a:srgbClr val="536374"/>
                </a:solidFill>
              </a:defRPr>
            </a:lvl4pPr>
            <a:lvl5pPr>
              <a:defRPr sz="1350" b="0">
                <a:solidFill>
                  <a:srgbClr val="536374"/>
                </a:solidFill>
              </a:defRPr>
            </a:lvl5pPr>
            <a:lvl6pPr>
              <a:defRPr sz="1350" b="0">
                <a:solidFill>
                  <a:srgbClr val="536374"/>
                </a:solidFill>
              </a:defRPr>
            </a:lvl6pPr>
            <a:lvl7pPr>
              <a:defRPr sz="1350" b="0">
                <a:solidFill>
                  <a:srgbClr val="536374"/>
                </a:solidFill>
              </a:defRPr>
            </a:lvl7pPr>
            <a:lvl8pPr>
              <a:defRPr sz="1350" b="0">
                <a:solidFill>
                  <a:srgbClr val="536374"/>
                </a:solidFill>
              </a:defRPr>
            </a:lvl8pPr>
            <a:lvl9pPr>
              <a:defRPr sz="1350" b="0">
                <a:solidFill>
                  <a:srgbClr val="536374"/>
                </a:solidFill>
              </a:defRPr>
            </a:lvl9pPr>
          </a:lstStyle>
          <a:p xmlns:a="http://schemas.openxmlformats.org/drawingml/2006/main">
            <a:pPr>
              <a:defRPr sz="1350" b="0">
                <a:solidFill>
                  <a:srgbClr val="536374"/>
                </a:solidFill>
              </a:defRPr>
            </a:pPr>
            <a:r>
              <a:rPr sz="1350" b="0">
                <a:solidFill>
                  <a:srgbClr val="536374"/>
                </a:solidFill>
              </a:rPr>
              <a:t>4 / 8</a:t>
            </a:r>
          </a:p>
        </p:txBody>
      </p:sp>
      <p:graphicFrame>
        <p:nvGraphicFramePr>
          <p:cNvPr id="4" name="">
            <a:extLst xmlns:a="http://schemas.openxmlformats.org/drawingml/2006/main">
              <a:ext uri="{FF2B5EF4-FFF2-40B4-BE49-F238E27FC236}">
                <a16:creationId xmlns:a16="http://schemas.microsoft.com/office/drawing/2014/main" id="{8307AF11-9F86-43C9-A216-CEC4453DBA32}"/>
              </a:ext>
            </a:extLst>
          </p:cNvPr>
          <p:cNvGraphicFramePr/>
          <p:nvPr/>
        </p:nvGraphicFramePr>
        <p:xfrm>
          <a:off xmlns:a="http://schemas.openxmlformats.org/drawingml/2006/main" x="685800" y="2095500"/>
          <a:ext xmlns:a="http://schemas.openxmlformats.org/drawingml/2006/main" cx="10820400" cy="2476500"/>
        </p:xfrm>
        <a:graphic xmlns:a="http://schemas.openxmlformats.org/drawingml/2006/main">
          <a:graphicData uri="http://schemas.openxmlformats.org/drawingml/2006/table">
            <a:tbl>
              <a:tblPr/>
              <a:tblGrid>
                <a:gridCol w="3143250"/>
                <a:gridCol w="4476750"/>
                <a:gridCol w="3200400"/>
              </a:tblGrid>
              <a:tr h="619125">
                <a:tc>
                  <a:txBody>
                    <a:bodyPr/>
                    <a:lstStyle/>
                    <a:p>
                      <a:r>
                        <a:rPr sz="1800" b="1">
                          <a:solidFill>
                            <a:srgbClr val="FFFFFF"/>
                          </a:solidFill>
                        </a:rPr>
                        <a:t>Model</a:t>
                      </a:r>
                    </a:p>
                  </a:txBody>
                  <a:tcPr marL="91440" marR="91440" marT="45720" marB="45720">
                    <a:lnL w="9525">
                      <a:solidFill>
                        <a:srgbClr val="D9E2E8"/>
                      </a:solidFill>
                      <a:prstDash val="solid"/>
                    </a:lnL>
                    <a:lnR w="9525">
                      <a:solidFill>
                        <a:srgbClr val="D9E2E8"/>
                      </a:solidFill>
                      <a:prstDash val="solid"/>
                    </a:lnR>
                    <a:lnT w="9525">
                      <a:solidFill>
                        <a:srgbClr val="D9E2E8"/>
                      </a:solidFill>
                      <a:prstDash val="solid"/>
                    </a:lnT>
                    <a:lnB w="9525">
                      <a:solidFill>
                        <a:srgbClr val="D9E2E8"/>
                      </a:solidFill>
                      <a:prstDash val="solid"/>
                    </a:lnB>
                    <a:solidFill>
                      <a:srgbClr val="11283F"/>
                    </a:solidFill>
                  </a:tcPr>
                </a:tc>
                <a:tc>
                  <a:txBody>
                    <a:bodyPr/>
                    <a:lstStyle/>
                    <a:p>
                      <a:r>
                        <a:rPr sz="1800" b="1">
                          <a:solidFill>
                            <a:srgbClr val="FFFFFF"/>
                          </a:solidFill>
                        </a:rPr>
                        <a:t>Mechanism</a:t>
                      </a:r>
                    </a:p>
                  </a:txBody>
                  <a:tcPr marL="91440" marR="91440" marT="45720" marB="45720">
                    <a:lnR w="9525">
                      <a:solidFill>
                        <a:srgbClr val="D9E2E8"/>
                      </a:solidFill>
                      <a:prstDash val="solid"/>
                    </a:lnR>
                    <a:lnT w="9525">
                      <a:solidFill>
                        <a:srgbClr val="D9E2E8"/>
                      </a:solidFill>
                      <a:prstDash val="solid"/>
                    </a:lnT>
                    <a:lnB w="9525">
                      <a:solidFill>
                        <a:srgbClr val="D9E2E8"/>
                      </a:solidFill>
                      <a:prstDash val="solid"/>
                    </a:lnB>
                    <a:solidFill>
                      <a:srgbClr val="11283F"/>
                    </a:solidFill>
                  </a:tcPr>
                </a:tc>
                <a:tc>
                  <a:txBody>
                    <a:bodyPr/>
                    <a:lstStyle/>
                    <a:p>
                      <a:r>
                        <a:rPr sz="1800" b="1">
                          <a:solidFill>
                            <a:srgbClr val="FFFFFF"/>
                          </a:solidFill>
                        </a:rPr>
                        <a:t>Tuned setting</a:t>
                      </a:r>
                    </a:p>
                  </a:txBody>
                  <a:tcPr marL="91440" marR="91440" marT="45720" marB="45720">
                    <a:lnR w="9525">
                      <a:solidFill>
                        <a:srgbClr val="D9E2E8"/>
                      </a:solidFill>
                      <a:prstDash val="solid"/>
                    </a:lnR>
                    <a:lnT w="9525">
                      <a:solidFill>
                        <a:srgbClr val="D9E2E8"/>
                      </a:solidFill>
                      <a:prstDash val="solid"/>
                    </a:lnT>
                    <a:lnB w="9525">
                      <a:solidFill>
                        <a:srgbClr val="D9E2E8"/>
                      </a:solidFill>
                      <a:prstDash val="solid"/>
                    </a:lnB>
                    <a:solidFill>
                      <a:srgbClr val="11283F"/>
                    </a:solidFill>
                  </a:tcPr>
                </a:tc>
              </a:tr>
              <a:tr h="619125">
                <a:tc>
                  <a:txBody>
                    <a:bodyPr/>
                    <a:lstStyle/>
                    <a:p>
                      <a:r>
                        <a:rPr sz="1800" b="0">
                          <a:solidFill>
                            <a:srgbClr val="11283F"/>
                          </a:solidFill>
                        </a:rPr>
                        <a:t>Logistic regression</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Linear score, logistic link</a:t>
                      </a:r>
                    </a:p>
                  </a:txBody>
                  <a:tcPr marL="91440" marR="91440" marT="45720" marB="45720">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Regularization C</a:t>
                      </a:r>
                    </a:p>
                  </a:txBody>
                  <a:tcPr marL="91440" marR="91440" marT="45720" marB="45720">
                    <a:lnR w="9525">
                      <a:solidFill>
                        <a:srgbClr val="D9E2E8"/>
                      </a:solidFill>
                      <a:prstDash val="solid"/>
                    </a:lnR>
                    <a:lnB w="9525">
                      <a:solidFill>
                        <a:srgbClr val="D9E2E8"/>
                      </a:solidFill>
                      <a:prstDash val="solid"/>
                    </a:lnB>
                    <a:solidFill>
                      <a:srgbClr val="EEF4F5"/>
                    </a:solidFill>
                  </a:tcPr>
                </a:tc>
              </a:tr>
              <a:tr h="619125">
                <a:tc>
                  <a:txBody>
                    <a:bodyPr/>
                    <a:lstStyle/>
                    <a:p>
                      <a:r>
                        <a:rPr sz="1800" b="0">
                          <a:solidFill>
                            <a:srgbClr val="11283F"/>
                          </a:solidFill>
                        </a:rPr>
                        <a:t>Random forest</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a:lstStyle/>
                    <a:p>
                      <a:r>
                        <a:rPr sz="1800" b="0">
                          <a:solidFill>
                            <a:srgbClr val="11283F"/>
                          </a:solidFill>
                        </a:rPr>
                        <a:t>Average randomized trees</a:t>
                      </a:r>
                    </a:p>
                  </a:txBody>
                  <a:tcPr marL="91440" marR="91440" marT="45720" marB="45720">
                    <a:lnR w="9525">
                      <a:solidFill>
                        <a:srgbClr val="D9E2E8"/>
                      </a:solidFill>
                      <a:prstDash val="solid"/>
                    </a:lnR>
                    <a:lnB w="9525">
                      <a:solidFill>
                        <a:srgbClr val="D9E2E8"/>
                      </a:solidFill>
                      <a:prstDash val="solid"/>
                    </a:lnB>
                    <a:solidFill>
                      <a:srgbClr val="FFFFFF"/>
                    </a:solidFill>
                  </a:tcPr>
                </a:tc>
                <a:tc>
                  <a:txBody>
                    <a:bodyPr/>
                    <a:lstStyle/>
                    <a:p>
                      <a:r>
                        <a:rPr sz="1800" b="0">
                          <a:solidFill>
                            <a:srgbClr val="11283F"/>
                          </a:solidFill>
                        </a:rPr>
                        <a:t>Maximum depth</a:t>
                      </a:r>
                    </a:p>
                  </a:txBody>
                  <a:tcPr marL="91440" marR="91440" marT="45720" marB="45720">
                    <a:lnR w="9525">
                      <a:solidFill>
                        <a:srgbClr val="D9E2E8"/>
                      </a:solidFill>
                      <a:prstDash val="solid"/>
                    </a:lnR>
                    <a:lnB w="9525">
                      <a:solidFill>
                        <a:srgbClr val="D9E2E8"/>
                      </a:solidFill>
                      <a:prstDash val="solid"/>
                    </a:lnB>
                    <a:solidFill>
                      <a:srgbClr val="FFFFFF"/>
                    </a:solidFill>
                  </a:tcPr>
                </a:tc>
              </a:tr>
              <a:tr h="619125">
                <a:tc>
                  <a:txBody>
                    <a:bodyPr/>
                    <a:lstStyle/>
                    <a:p>
                      <a:r>
                        <a:rPr sz="1800" b="0">
                          <a:solidFill>
                            <a:srgbClr val="11283F"/>
                          </a:solidFill>
                        </a:rPr>
                        <a:t>LightGBM</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Sequential loss reduction</a:t>
                      </a:r>
                    </a:p>
                  </a:txBody>
                  <a:tcPr marL="91440" marR="91440" marT="45720" marB="45720">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Leaves and L2 penalty</a:t>
                      </a:r>
                    </a:p>
                  </a:txBody>
                  <a:tcPr marL="91440" marR="91440" marT="45720" marB="45720">
                    <a:lnR w="9525">
                      <a:solidFill>
                        <a:srgbClr val="D9E2E8"/>
                      </a:solidFill>
                      <a:prstDash val="solid"/>
                    </a:lnR>
                    <a:lnB w="9525">
                      <a:solidFill>
                        <a:srgbClr val="D9E2E8"/>
                      </a:solidFill>
                      <a:prstDash val="solid"/>
                    </a:lnB>
                    <a:solidFill>
                      <a:srgbClr val="EEF4F5"/>
                    </a:solidFill>
                  </a:tcPr>
                </a:tc>
              </a:tr>
            </a:tbl>
          </a:graphicData>
        </a:graphic>
      </p:graphicFrame>
      <p:sp>
        <p:nvSpPr>
          <p:cNvPr id="5" name="">
            <a:extLst xmlns:a="http://schemas.openxmlformats.org/drawingml/2006/main">
              <a:ext uri="{FF2B5EF4-FFF2-40B4-BE49-F238E27FC236}">
                <a16:creationId xmlns:a16="http://schemas.microsoft.com/office/drawing/2014/main" id="{9737345C-86E0-4F81-B0CB-7F38A791457C}"/>
              </a:ext>
            </a:extLst>
          </p:cNvPr>
          <p:cNvSpPr>
            <a:spLocks xmlns:a="http://schemas.openxmlformats.org/drawingml/2006/main" noGrp="1"/>
          </p:cNvSpPr>
          <p:nvPr/>
        </p:nvSpPr>
        <p:spPr>
          <a:xfrm xmlns:a="http://schemas.openxmlformats.org/drawingml/2006/main">
            <a:off x="685800" y="5238750"/>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83"/>
                </a:solidFill>
              </a:defRPr>
            </a:defPPr>
            <a:lvl1pPr>
              <a:defRPr sz="2250" b="1">
                <a:solidFill>
                  <a:srgbClr val="087E83"/>
                </a:solidFill>
              </a:defRPr>
            </a:lvl1pPr>
            <a:lvl2pPr>
              <a:defRPr sz="2250" b="1">
                <a:solidFill>
                  <a:srgbClr val="087E83"/>
                </a:solidFill>
              </a:defRPr>
            </a:lvl2pPr>
            <a:lvl3pPr>
              <a:defRPr sz="2250" b="1">
                <a:solidFill>
                  <a:srgbClr val="087E83"/>
                </a:solidFill>
              </a:defRPr>
            </a:lvl3pPr>
            <a:lvl4pPr>
              <a:defRPr sz="2250" b="1">
                <a:solidFill>
                  <a:srgbClr val="087E83"/>
                </a:solidFill>
              </a:defRPr>
            </a:lvl4pPr>
            <a:lvl5pPr>
              <a:defRPr sz="2250" b="1">
                <a:solidFill>
                  <a:srgbClr val="087E83"/>
                </a:solidFill>
              </a:defRPr>
            </a:lvl5pPr>
            <a:lvl6pPr>
              <a:defRPr sz="2250" b="1">
                <a:solidFill>
                  <a:srgbClr val="087E83"/>
                </a:solidFill>
              </a:defRPr>
            </a:lvl6pPr>
            <a:lvl7pPr>
              <a:defRPr sz="2250" b="1">
                <a:solidFill>
                  <a:srgbClr val="087E83"/>
                </a:solidFill>
              </a:defRPr>
            </a:lvl7pPr>
            <a:lvl8pPr>
              <a:defRPr sz="2250" b="1">
                <a:solidFill>
                  <a:srgbClr val="087E83"/>
                </a:solidFill>
              </a:defRPr>
            </a:lvl8pPr>
            <a:lvl9pPr>
              <a:defRPr sz="2250" b="1">
                <a:solidFill>
                  <a:srgbClr val="087E83"/>
                </a:solidFill>
              </a:defRPr>
            </a:lvl9pPr>
          </a:lstStyle>
          <a:p xmlns:a="http://schemas.openxmlformats.org/drawingml/2006/main">
            <a:pPr>
              <a:defRPr sz="2250" b="1">
                <a:solidFill>
                  <a:srgbClr val="087E83"/>
                </a:solidFill>
              </a:defRPr>
            </a:pPr>
            <a:r>
              <a:rPr sz="2250" b="1">
                <a:solidFill>
                  <a:srgbClr val="087E83"/>
                </a:solidFill>
              </a:rPr>
              <a:t>Selection criterion: highest development CV AUC</a:t>
            </a:r>
          </a:p>
        </p:txBody>
      </p:sp>
    </p:spTree>
    <p:extLst>
      <p:ext uri="{BB962C8B-B14F-4D97-AF65-F5344CB8AC3E}">
        <p14:creationId xmlns:p14="http://schemas.microsoft.com/office/powerpoint/2010/main" val="1058204929"/>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14313F-933E-4A66-8454-C17BAA13A95D}"/>
              </a:ext>
            </a:extLst>
          </p:cNvPr>
          <p:cNvSpPr>
            <a:spLocks xmlns:a="http://schemas.openxmlformats.org/drawingml/2006/main" noGrp="1"/>
          </p:cNvSpPr>
          <p:nvPr/>
        </p:nvSpPr>
        <p:spPr>
          <a:xfrm xmlns:a="http://schemas.openxmlformats.org/drawingml/2006/main">
            <a:off x="685800" y="33337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87E83"/>
                </a:solidFill>
              </a:defRPr>
            </a:defPPr>
            <a:lvl1pPr>
              <a:defRPr sz="1350" b="1">
                <a:solidFill>
                  <a:srgbClr val="087E83"/>
                </a:solidFill>
              </a:defRPr>
            </a:lvl1pPr>
            <a:lvl2pPr>
              <a:defRPr sz="1350" b="1">
                <a:solidFill>
                  <a:srgbClr val="087E83"/>
                </a:solidFill>
              </a:defRPr>
            </a:lvl2pPr>
            <a:lvl3pPr>
              <a:defRPr sz="1350" b="1">
                <a:solidFill>
                  <a:srgbClr val="087E83"/>
                </a:solidFill>
              </a:defRPr>
            </a:lvl3pPr>
            <a:lvl4pPr>
              <a:defRPr sz="1350" b="1">
                <a:solidFill>
                  <a:srgbClr val="087E83"/>
                </a:solidFill>
              </a:defRPr>
            </a:lvl4pPr>
            <a:lvl5pPr>
              <a:defRPr sz="1350" b="1">
                <a:solidFill>
                  <a:srgbClr val="087E83"/>
                </a:solidFill>
              </a:defRPr>
            </a:lvl5pPr>
            <a:lvl6pPr>
              <a:defRPr sz="1350" b="1">
                <a:solidFill>
                  <a:srgbClr val="087E83"/>
                </a:solidFill>
              </a:defRPr>
            </a:lvl6pPr>
            <a:lvl7pPr>
              <a:defRPr sz="1350" b="1">
                <a:solidFill>
                  <a:srgbClr val="087E83"/>
                </a:solidFill>
              </a:defRPr>
            </a:lvl7pPr>
            <a:lvl8pPr>
              <a:defRPr sz="1350" b="1">
                <a:solidFill>
                  <a:srgbClr val="087E83"/>
                </a:solidFill>
              </a:defRPr>
            </a:lvl8pPr>
            <a:lvl9pPr>
              <a:defRPr sz="1350" b="1">
                <a:solidFill>
                  <a:srgbClr val="087E83"/>
                </a:solidFill>
              </a:defRPr>
            </a:lvl9pPr>
          </a:lstStyle>
          <a:p xmlns:a="http://schemas.openxmlformats.org/drawingml/2006/main">
            <a:pPr>
              <a:defRPr sz="1350" b="1">
                <a:solidFill>
                  <a:srgbClr val="087E83"/>
                </a:solidFill>
              </a:defRPr>
            </a:pPr>
            <a:r>
              <a:rPr sz="1350" b="1">
                <a:solidFill>
                  <a:srgbClr val="087E83"/>
                </a:solidFill>
              </a:rPr>
              <a:t>05</a:t>
            </a:r>
          </a:p>
        </p:txBody>
      </p:sp>
      <p:sp>
        <p:nvSpPr>
          <p:cNvPr id="2" name="">
            <a:extLst xmlns:a="http://schemas.openxmlformats.org/drawingml/2006/main">
              <a:ext uri="{FF2B5EF4-FFF2-40B4-BE49-F238E27FC236}">
                <a16:creationId xmlns:a16="http://schemas.microsoft.com/office/drawing/2014/main" id="{B974016D-4C42-4988-9880-0660B0820DE6}"/>
              </a:ext>
            </a:extLst>
          </p:cNvPr>
          <p:cNvSpPr>
            <a:spLocks xmlns:a="http://schemas.openxmlformats.org/drawingml/2006/main" noGrp="1"/>
          </p:cNvSpPr>
          <p:nvPr/>
        </p:nvSpPr>
        <p:spPr>
          <a:xfrm xmlns:a="http://schemas.openxmlformats.org/drawingml/2006/main">
            <a:off x="685800" y="8572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1283F"/>
                </a:solidFill>
              </a:defRPr>
            </a:defPPr>
            <a:lvl1pPr>
              <a:defRPr sz="3300" b="1">
                <a:solidFill>
                  <a:srgbClr val="11283F"/>
                </a:solidFill>
              </a:defRPr>
            </a:lvl1pPr>
            <a:lvl2pPr>
              <a:defRPr sz="3300" b="1">
                <a:solidFill>
                  <a:srgbClr val="11283F"/>
                </a:solidFill>
              </a:defRPr>
            </a:lvl2pPr>
            <a:lvl3pPr>
              <a:defRPr sz="3300" b="1">
                <a:solidFill>
                  <a:srgbClr val="11283F"/>
                </a:solidFill>
              </a:defRPr>
            </a:lvl3pPr>
            <a:lvl4pPr>
              <a:defRPr sz="3300" b="1">
                <a:solidFill>
                  <a:srgbClr val="11283F"/>
                </a:solidFill>
              </a:defRPr>
            </a:lvl4pPr>
            <a:lvl5pPr>
              <a:defRPr sz="3300" b="1">
                <a:solidFill>
                  <a:srgbClr val="11283F"/>
                </a:solidFill>
              </a:defRPr>
            </a:lvl5pPr>
            <a:lvl6pPr>
              <a:defRPr sz="3300" b="1">
                <a:solidFill>
                  <a:srgbClr val="11283F"/>
                </a:solidFill>
              </a:defRPr>
            </a:lvl6pPr>
            <a:lvl7pPr>
              <a:defRPr sz="3300" b="1">
                <a:solidFill>
                  <a:srgbClr val="11283F"/>
                </a:solidFill>
              </a:defRPr>
            </a:lvl7pPr>
            <a:lvl8pPr>
              <a:defRPr sz="3300" b="1">
                <a:solidFill>
                  <a:srgbClr val="11283F"/>
                </a:solidFill>
              </a:defRPr>
            </a:lvl8pPr>
            <a:lvl9pPr>
              <a:defRPr sz="3300" b="1">
                <a:solidFill>
                  <a:srgbClr val="11283F"/>
                </a:solidFill>
              </a:defRPr>
            </a:lvl9pPr>
          </a:lstStyle>
          <a:p xmlns:a="http://schemas.openxmlformats.org/drawingml/2006/main">
            <a:pPr>
              <a:defRPr sz="3300" b="1">
                <a:solidFill>
                  <a:srgbClr val="11283F"/>
                </a:solidFill>
              </a:defRPr>
            </a:pPr>
            <a:r>
              <a:rPr sz="3300" b="1">
                <a:solidFill>
                  <a:srgbClr val="11283F"/>
                </a:solidFill>
              </a:rPr>
              <a:t>Validation and threshold selection</a:t>
            </a:r>
          </a:p>
        </p:txBody>
      </p:sp>
      <p:sp>
        <p:nvSpPr>
          <p:cNvPr id="3" name="">
            <a:extLst xmlns:a="http://schemas.openxmlformats.org/drawingml/2006/main">
              <a:ext uri="{FF2B5EF4-FFF2-40B4-BE49-F238E27FC236}">
                <a16:creationId xmlns:a16="http://schemas.microsoft.com/office/drawing/2014/main" id="{FD50B68F-1D6E-4001-B139-B3AA4087E684}"/>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374"/>
                </a:solidFill>
              </a:defRPr>
            </a:defPPr>
            <a:lvl1pPr>
              <a:defRPr sz="1350" b="0">
                <a:solidFill>
                  <a:srgbClr val="536374"/>
                </a:solidFill>
              </a:defRPr>
            </a:lvl1pPr>
            <a:lvl2pPr>
              <a:defRPr sz="1350" b="0">
                <a:solidFill>
                  <a:srgbClr val="536374"/>
                </a:solidFill>
              </a:defRPr>
            </a:lvl2pPr>
            <a:lvl3pPr>
              <a:defRPr sz="1350" b="0">
                <a:solidFill>
                  <a:srgbClr val="536374"/>
                </a:solidFill>
              </a:defRPr>
            </a:lvl3pPr>
            <a:lvl4pPr>
              <a:defRPr sz="1350" b="0">
                <a:solidFill>
                  <a:srgbClr val="536374"/>
                </a:solidFill>
              </a:defRPr>
            </a:lvl4pPr>
            <a:lvl5pPr>
              <a:defRPr sz="1350" b="0">
                <a:solidFill>
                  <a:srgbClr val="536374"/>
                </a:solidFill>
              </a:defRPr>
            </a:lvl5pPr>
            <a:lvl6pPr>
              <a:defRPr sz="1350" b="0">
                <a:solidFill>
                  <a:srgbClr val="536374"/>
                </a:solidFill>
              </a:defRPr>
            </a:lvl6pPr>
            <a:lvl7pPr>
              <a:defRPr sz="1350" b="0">
                <a:solidFill>
                  <a:srgbClr val="536374"/>
                </a:solidFill>
              </a:defRPr>
            </a:lvl7pPr>
            <a:lvl8pPr>
              <a:defRPr sz="1350" b="0">
                <a:solidFill>
                  <a:srgbClr val="536374"/>
                </a:solidFill>
              </a:defRPr>
            </a:lvl8pPr>
            <a:lvl9pPr>
              <a:defRPr sz="1350" b="0">
                <a:solidFill>
                  <a:srgbClr val="536374"/>
                </a:solidFill>
              </a:defRPr>
            </a:lvl9pPr>
          </a:lstStyle>
          <a:p xmlns:a="http://schemas.openxmlformats.org/drawingml/2006/main">
            <a:pPr>
              <a:defRPr sz="1350" b="0">
                <a:solidFill>
                  <a:srgbClr val="536374"/>
                </a:solidFill>
              </a:defRPr>
            </a:pPr>
            <a:r>
              <a:rPr sz="1350" b="0">
                <a:solidFill>
                  <a:srgbClr val="536374"/>
                </a:solidFill>
              </a:rPr>
              <a:t>5 / 8</a:t>
            </a:r>
          </a:p>
        </p:txBody>
      </p:sp>
      <p:sp>
        <p:nvSpPr>
          <p:cNvPr id="4" name="">
            <a:extLst xmlns:a="http://schemas.openxmlformats.org/drawingml/2006/main">
              <a:ext uri="{FF2B5EF4-FFF2-40B4-BE49-F238E27FC236}">
                <a16:creationId xmlns:a16="http://schemas.microsoft.com/office/drawing/2014/main" id="{EA13EDE2-4DE2-4838-9045-1A433E480261}"/>
              </a:ext>
            </a:extLst>
          </p:cNvPr>
          <p:cNvSpPr>
            <a:spLocks xmlns:a="http://schemas.openxmlformats.org/drawingml/2006/main" noGrp="1"/>
          </p:cNvSpPr>
          <p:nvPr/>
        </p:nvSpPr>
        <p:spPr>
          <a:xfrm xmlns:a="http://schemas.openxmlformats.org/drawingml/2006/main">
            <a:off x="685800" y="20955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87E83"/>
                </a:solidFill>
              </a:defRPr>
            </a:defPPr>
            <a:lvl1pPr>
              <a:defRPr sz="3600" b="1">
                <a:solidFill>
                  <a:srgbClr val="087E83"/>
                </a:solidFill>
              </a:defRPr>
            </a:lvl1pPr>
            <a:lvl2pPr>
              <a:defRPr sz="3600" b="1">
                <a:solidFill>
                  <a:srgbClr val="087E83"/>
                </a:solidFill>
              </a:defRPr>
            </a:lvl2pPr>
            <a:lvl3pPr>
              <a:defRPr sz="3600" b="1">
                <a:solidFill>
                  <a:srgbClr val="087E83"/>
                </a:solidFill>
              </a:defRPr>
            </a:lvl3pPr>
            <a:lvl4pPr>
              <a:defRPr sz="3600" b="1">
                <a:solidFill>
                  <a:srgbClr val="087E83"/>
                </a:solidFill>
              </a:defRPr>
            </a:lvl4pPr>
            <a:lvl5pPr>
              <a:defRPr sz="3600" b="1">
                <a:solidFill>
                  <a:srgbClr val="087E83"/>
                </a:solidFill>
              </a:defRPr>
            </a:lvl5pPr>
            <a:lvl6pPr>
              <a:defRPr sz="3600" b="1">
                <a:solidFill>
                  <a:srgbClr val="087E83"/>
                </a:solidFill>
              </a:defRPr>
            </a:lvl6pPr>
            <a:lvl7pPr>
              <a:defRPr sz="3600" b="1">
                <a:solidFill>
                  <a:srgbClr val="087E83"/>
                </a:solidFill>
              </a:defRPr>
            </a:lvl7pPr>
            <a:lvl8pPr>
              <a:defRPr sz="3600" b="1">
                <a:solidFill>
                  <a:srgbClr val="087E83"/>
                </a:solidFill>
              </a:defRPr>
            </a:lvl8pPr>
            <a:lvl9pPr>
              <a:defRPr sz="3600" b="1">
                <a:solidFill>
                  <a:srgbClr val="087E83"/>
                </a:solidFill>
              </a:defRPr>
            </a:lvl9pPr>
          </a:lstStyle>
          <a:p xmlns:a="http://schemas.openxmlformats.org/drawingml/2006/main">
            <a:pPr>
              <a:defRPr sz="3600" b="1">
                <a:solidFill>
                  <a:srgbClr val="087E83"/>
                </a:solidFill>
              </a:defRPr>
            </a:pPr>
            <a:r>
              <a:rPr sz="3600" b="1">
                <a:solidFill>
                  <a:srgbClr val="087E83"/>
                </a:solidFill>
              </a:rPr>
              <a:t>80% development</a:t>
            </a:r>
          </a:p>
        </p:txBody>
      </p:sp>
      <p:sp>
        <p:nvSpPr>
          <p:cNvPr id="5" name="">
            <a:extLst xmlns:a="http://schemas.openxmlformats.org/drawingml/2006/main">
              <a:ext uri="{FF2B5EF4-FFF2-40B4-BE49-F238E27FC236}">
                <a16:creationId xmlns:a16="http://schemas.microsoft.com/office/drawing/2014/main" id="{92C938B2-A221-42EC-9E12-FF50A1DA4119}"/>
              </a:ext>
            </a:extLst>
          </p:cNvPr>
          <p:cNvSpPr>
            <a:spLocks xmlns:a="http://schemas.openxmlformats.org/drawingml/2006/main" noGrp="1"/>
          </p:cNvSpPr>
          <p:nvPr/>
        </p:nvSpPr>
        <p:spPr>
          <a:xfrm xmlns:a="http://schemas.openxmlformats.org/drawingml/2006/main">
            <a:off x="685800" y="3048000"/>
            <a:ext cx="61912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1283F"/>
                </a:solidFill>
              </a:defRPr>
            </a:defPPr>
            <a:lvl1pPr>
              <a:defRPr sz="2250" b="0">
                <a:solidFill>
                  <a:srgbClr val="11283F"/>
                </a:solidFill>
              </a:defRPr>
            </a:lvl1pPr>
            <a:lvl2pPr>
              <a:defRPr sz="2250" b="0">
                <a:solidFill>
                  <a:srgbClr val="11283F"/>
                </a:solidFill>
              </a:defRPr>
            </a:lvl2pPr>
            <a:lvl3pPr>
              <a:defRPr sz="2250" b="0">
                <a:solidFill>
                  <a:srgbClr val="11283F"/>
                </a:solidFill>
              </a:defRPr>
            </a:lvl3pPr>
            <a:lvl4pPr>
              <a:defRPr sz="2250" b="0">
                <a:solidFill>
                  <a:srgbClr val="11283F"/>
                </a:solidFill>
              </a:defRPr>
            </a:lvl4pPr>
            <a:lvl5pPr>
              <a:defRPr sz="2250" b="0">
                <a:solidFill>
                  <a:srgbClr val="11283F"/>
                </a:solidFill>
              </a:defRPr>
            </a:lvl5pPr>
            <a:lvl6pPr>
              <a:defRPr sz="2250" b="0">
                <a:solidFill>
                  <a:srgbClr val="11283F"/>
                </a:solidFill>
              </a:defRPr>
            </a:lvl6pPr>
            <a:lvl7pPr>
              <a:defRPr sz="2250" b="0">
                <a:solidFill>
                  <a:srgbClr val="11283F"/>
                </a:solidFill>
              </a:defRPr>
            </a:lvl7pPr>
            <a:lvl8pPr>
              <a:defRPr sz="2250" b="0">
                <a:solidFill>
                  <a:srgbClr val="11283F"/>
                </a:solidFill>
              </a:defRPr>
            </a:lvl8pPr>
            <a:lvl9pPr>
              <a:defRPr sz="2250" b="0">
                <a:solidFill>
                  <a:srgbClr val="11283F"/>
                </a:solidFill>
              </a:defRPr>
            </a:lvl9pPr>
          </a:lstStyle>
          <a:p xmlns:a="http://schemas.openxmlformats.org/drawingml/2006/main">
            <a:pPr>
              <a:defRPr sz="2250" b="0">
                <a:solidFill>
                  <a:srgbClr val="11283F"/>
                </a:solidFill>
              </a:defRPr>
            </a:pPr>
            <a:r>
              <a:rPr sz="2250" b="0">
                <a:solidFill>
                  <a:srgbClr val="11283F"/>
                </a:solidFill>
              </a:rPr>
              <a:t>Stratified CV (default: 3 folds)</a:t>
            </a:r>
          </a:p>
          <a:p xmlns:a="http://schemas.openxmlformats.org/drawingml/2006/main">
            <a:pPr>
              <a:defRPr sz="2250" b="0">
                <a:solidFill>
                  <a:srgbClr val="11283F"/>
                </a:solidFill>
              </a:defRPr>
            </a:pPr>
            <a:r>
              <a:rPr sz="2250" b="0">
                <a:solidFill>
                  <a:srgbClr val="11283F"/>
                </a:solidFill>
              </a:rPr>
              <a:t>Grid search by AUC</a:t>
            </a:r>
          </a:p>
          <a:p xmlns:a="http://schemas.openxmlformats.org/drawingml/2006/main">
            <a:pPr>
              <a:defRPr sz="2250" b="0">
                <a:solidFill>
                  <a:srgbClr val="11283F"/>
                </a:solidFill>
              </a:defRPr>
            </a:pPr>
            <a:r>
              <a:rPr sz="2250" b="0">
                <a:solidFill>
                  <a:srgbClr val="11283F"/>
                </a:solidFill>
              </a:rPr>
              <a:t>OOF threshold by maximum F1</a:t>
            </a:r>
          </a:p>
        </p:txBody>
      </p:sp>
      <p:sp>
        <p:nvSpPr>
          <p:cNvPr id="6" name="">
            <a:extLst xmlns:a="http://schemas.openxmlformats.org/drawingml/2006/main">
              <a:ext uri="{FF2B5EF4-FFF2-40B4-BE49-F238E27FC236}">
                <a16:creationId xmlns:a16="http://schemas.microsoft.com/office/drawing/2014/main" id="{56AD7B9D-4B0D-413A-A6C0-06EB88034D10}"/>
              </a:ext>
            </a:extLst>
          </p:cNvPr>
          <p:cNvSpPr>
            <a:spLocks xmlns:a="http://schemas.openxmlformats.org/drawingml/2006/main" noGrp="1"/>
          </p:cNvSpPr>
          <p:nvPr/>
        </p:nvSpPr>
        <p:spPr>
          <a:xfrm xmlns:a="http://schemas.openxmlformats.org/drawingml/2006/main">
            <a:off x="7762875" y="209550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1283F"/>
                </a:solidFill>
              </a:defRPr>
            </a:defPPr>
            <a:lvl1pPr>
              <a:defRPr sz="3300" b="1">
                <a:solidFill>
                  <a:srgbClr val="11283F"/>
                </a:solidFill>
              </a:defRPr>
            </a:lvl1pPr>
            <a:lvl2pPr>
              <a:defRPr sz="3300" b="1">
                <a:solidFill>
                  <a:srgbClr val="11283F"/>
                </a:solidFill>
              </a:defRPr>
            </a:lvl2pPr>
            <a:lvl3pPr>
              <a:defRPr sz="3300" b="1">
                <a:solidFill>
                  <a:srgbClr val="11283F"/>
                </a:solidFill>
              </a:defRPr>
            </a:lvl3pPr>
            <a:lvl4pPr>
              <a:defRPr sz="3300" b="1">
                <a:solidFill>
                  <a:srgbClr val="11283F"/>
                </a:solidFill>
              </a:defRPr>
            </a:lvl4pPr>
            <a:lvl5pPr>
              <a:defRPr sz="3300" b="1">
                <a:solidFill>
                  <a:srgbClr val="11283F"/>
                </a:solidFill>
              </a:defRPr>
            </a:lvl5pPr>
            <a:lvl6pPr>
              <a:defRPr sz="3300" b="1">
                <a:solidFill>
                  <a:srgbClr val="11283F"/>
                </a:solidFill>
              </a:defRPr>
            </a:lvl6pPr>
            <a:lvl7pPr>
              <a:defRPr sz="3300" b="1">
                <a:solidFill>
                  <a:srgbClr val="11283F"/>
                </a:solidFill>
              </a:defRPr>
            </a:lvl7pPr>
            <a:lvl8pPr>
              <a:defRPr sz="3300" b="1">
                <a:solidFill>
                  <a:srgbClr val="11283F"/>
                </a:solidFill>
              </a:defRPr>
            </a:lvl8pPr>
            <a:lvl9pPr>
              <a:defRPr sz="3300" b="1">
                <a:solidFill>
                  <a:srgbClr val="11283F"/>
                </a:solidFill>
              </a:defRPr>
            </a:lvl9pPr>
          </a:lstStyle>
          <a:p xmlns:a="http://schemas.openxmlformats.org/drawingml/2006/main">
            <a:pPr>
              <a:defRPr sz="3300" b="1">
                <a:solidFill>
                  <a:srgbClr val="11283F"/>
                </a:solidFill>
              </a:defRPr>
            </a:pPr>
            <a:r>
              <a:rPr sz="3300" b="1">
                <a:solidFill>
                  <a:srgbClr val="11283F"/>
                </a:solidFill>
              </a:rPr>
              <a:t>20% holdout</a:t>
            </a:r>
          </a:p>
        </p:txBody>
      </p:sp>
      <p:sp>
        <p:nvSpPr>
          <p:cNvPr id="7" name="">
            <a:extLst xmlns:a="http://schemas.openxmlformats.org/drawingml/2006/main">
              <a:ext uri="{FF2B5EF4-FFF2-40B4-BE49-F238E27FC236}">
                <a16:creationId xmlns:a16="http://schemas.microsoft.com/office/drawing/2014/main" id="{8CDA3A89-3DF8-4880-9597-B3FFB1F4C7E3}"/>
              </a:ext>
            </a:extLst>
          </p:cNvPr>
          <p:cNvSpPr>
            <a:spLocks xmlns:a="http://schemas.openxmlformats.org/drawingml/2006/main" noGrp="1"/>
          </p:cNvSpPr>
          <p:nvPr/>
        </p:nvSpPr>
        <p:spPr>
          <a:xfrm xmlns:a="http://schemas.openxmlformats.org/drawingml/2006/main">
            <a:off x="7762875" y="3048000"/>
            <a:ext cx="3714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1283F"/>
                </a:solidFill>
              </a:defRPr>
            </a:defPPr>
            <a:lvl1pPr>
              <a:defRPr sz="2250" b="0">
                <a:solidFill>
                  <a:srgbClr val="11283F"/>
                </a:solidFill>
              </a:defRPr>
            </a:lvl1pPr>
            <a:lvl2pPr>
              <a:defRPr sz="2250" b="0">
                <a:solidFill>
                  <a:srgbClr val="11283F"/>
                </a:solidFill>
              </a:defRPr>
            </a:lvl2pPr>
            <a:lvl3pPr>
              <a:defRPr sz="2250" b="0">
                <a:solidFill>
                  <a:srgbClr val="11283F"/>
                </a:solidFill>
              </a:defRPr>
            </a:lvl3pPr>
            <a:lvl4pPr>
              <a:defRPr sz="2250" b="0">
                <a:solidFill>
                  <a:srgbClr val="11283F"/>
                </a:solidFill>
              </a:defRPr>
            </a:lvl4pPr>
            <a:lvl5pPr>
              <a:defRPr sz="2250" b="0">
                <a:solidFill>
                  <a:srgbClr val="11283F"/>
                </a:solidFill>
              </a:defRPr>
            </a:lvl5pPr>
            <a:lvl6pPr>
              <a:defRPr sz="2250" b="0">
                <a:solidFill>
                  <a:srgbClr val="11283F"/>
                </a:solidFill>
              </a:defRPr>
            </a:lvl6pPr>
            <a:lvl7pPr>
              <a:defRPr sz="2250" b="0">
                <a:solidFill>
                  <a:srgbClr val="11283F"/>
                </a:solidFill>
              </a:defRPr>
            </a:lvl7pPr>
            <a:lvl8pPr>
              <a:defRPr sz="2250" b="0">
                <a:solidFill>
                  <a:srgbClr val="11283F"/>
                </a:solidFill>
              </a:defRPr>
            </a:lvl8pPr>
            <a:lvl9pPr>
              <a:defRPr sz="2250" b="0">
                <a:solidFill>
                  <a:srgbClr val="11283F"/>
                </a:solidFill>
              </a:defRPr>
            </a:lvl9pPr>
          </a:lstStyle>
          <a:p xmlns:a="http://schemas.openxmlformats.org/drawingml/2006/main">
            <a:pPr>
              <a:defRPr sz="2250" b="0">
                <a:solidFill>
                  <a:srgbClr val="11283F"/>
                </a:solidFill>
              </a:defRPr>
            </a:pPr>
            <a:r>
              <a:rPr sz="2250" b="0">
                <a:solidFill>
                  <a:srgbClr val="11283F"/>
                </a:solidFill>
              </a:rPr>
              <a:t>Final evaluation</a:t>
            </a:r>
          </a:p>
          <a:p xmlns:a="http://schemas.openxmlformats.org/drawingml/2006/main">
            <a:pPr>
              <a:defRPr sz="2250" b="0">
                <a:solidFill>
                  <a:srgbClr val="11283F"/>
                </a:solidFill>
              </a:defRPr>
            </a:pPr>
            <a:r>
              <a:rPr sz="2250" b="0">
                <a:solidFill>
                  <a:srgbClr val="11283F"/>
                </a:solidFill>
              </a:rPr>
              <a:t>After selection</a:t>
            </a:r>
          </a:p>
        </p:txBody>
      </p:sp>
      <p:sp>
        <p:nvSpPr>
          <p:cNvPr id="8" name="">
            <a:extLst xmlns:a="http://schemas.openxmlformats.org/drawingml/2006/main">
              <a:ext uri="{FF2B5EF4-FFF2-40B4-BE49-F238E27FC236}">
                <a16:creationId xmlns:a16="http://schemas.microsoft.com/office/drawing/2014/main" id="{38FB439F-FCE3-4393-9D0E-9D5C2EDF1330}"/>
              </a:ext>
            </a:extLst>
          </p:cNvPr>
          <p:cNvSpPr>
            <a:spLocks xmlns:a="http://schemas.openxmlformats.org/drawingml/2006/main" noGrp="1"/>
          </p:cNvSpPr>
          <p:nvPr/>
        </p:nvSpPr>
        <p:spPr>
          <a:xfrm xmlns:a="http://schemas.openxmlformats.org/drawingml/2006/main">
            <a:off x="685800" y="557212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36374"/>
                </a:solidFill>
              </a:defRPr>
            </a:defPPr>
            <a:lvl1pPr>
              <a:defRPr sz="1950" b="0">
                <a:solidFill>
                  <a:srgbClr val="536374"/>
                </a:solidFill>
              </a:defRPr>
            </a:lvl1pPr>
            <a:lvl2pPr>
              <a:defRPr sz="1950" b="0">
                <a:solidFill>
                  <a:srgbClr val="536374"/>
                </a:solidFill>
              </a:defRPr>
            </a:lvl2pPr>
            <a:lvl3pPr>
              <a:defRPr sz="1950" b="0">
                <a:solidFill>
                  <a:srgbClr val="536374"/>
                </a:solidFill>
              </a:defRPr>
            </a:lvl3pPr>
            <a:lvl4pPr>
              <a:defRPr sz="1950" b="0">
                <a:solidFill>
                  <a:srgbClr val="536374"/>
                </a:solidFill>
              </a:defRPr>
            </a:lvl4pPr>
            <a:lvl5pPr>
              <a:defRPr sz="1950" b="0">
                <a:solidFill>
                  <a:srgbClr val="536374"/>
                </a:solidFill>
              </a:defRPr>
            </a:lvl5pPr>
            <a:lvl6pPr>
              <a:defRPr sz="1950" b="0">
                <a:solidFill>
                  <a:srgbClr val="536374"/>
                </a:solidFill>
              </a:defRPr>
            </a:lvl6pPr>
            <a:lvl7pPr>
              <a:defRPr sz="1950" b="0">
                <a:solidFill>
                  <a:srgbClr val="536374"/>
                </a:solidFill>
              </a:defRPr>
            </a:lvl7pPr>
            <a:lvl8pPr>
              <a:defRPr sz="1950" b="0">
                <a:solidFill>
                  <a:srgbClr val="536374"/>
                </a:solidFill>
              </a:defRPr>
            </a:lvl8pPr>
            <a:lvl9pPr>
              <a:defRPr sz="1950" b="0">
                <a:solidFill>
                  <a:srgbClr val="536374"/>
                </a:solidFill>
              </a:defRPr>
            </a:lvl9pPr>
          </a:lstStyle>
          <a:p xmlns:a="http://schemas.openxmlformats.org/drawingml/2006/main">
            <a:pPr>
              <a:defRPr sz="1950" b="0">
                <a:solidFill>
                  <a:srgbClr val="536374"/>
                </a:solidFill>
              </a:defRPr>
            </a:pPr>
            <a:r>
              <a:rPr sz="1950" b="0">
                <a:solidFill>
                  <a:srgbClr val="536374"/>
                </a:solidFill>
              </a:rPr>
              <a:t>Tuned CV / OOF can be optimistic. Holdout never selects the model.</a:t>
            </a:r>
          </a:p>
        </p:txBody>
      </p:sp>
    </p:spTree>
    <p:extLst>
      <p:ext uri="{BB962C8B-B14F-4D97-AF65-F5344CB8AC3E}">
        <p14:creationId xmlns:p14="http://schemas.microsoft.com/office/powerpoint/2010/main" val="251872464"/>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4D8BF3-E717-410D-9950-5FD9BEE04589}"/>
              </a:ext>
            </a:extLst>
          </p:cNvPr>
          <p:cNvSpPr>
            <a:spLocks xmlns:a="http://schemas.openxmlformats.org/drawingml/2006/main" noGrp="1"/>
          </p:cNvSpPr>
          <p:nvPr/>
        </p:nvSpPr>
        <p:spPr>
          <a:xfrm xmlns:a="http://schemas.openxmlformats.org/drawingml/2006/main">
            <a:off x="685800" y="33337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87E83"/>
                </a:solidFill>
              </a:defRPr>
            </a:defPPr>
            <a:lvl1pPr>
              <a:defRPr sz="1350" b="1">
                <a:solidFill>
                  <a:srgbClr val="087E83"/>
                </a:solidFill>
              </a:defRPr>
            </a:lvl1pPr>
            <a:lvl2pPr>
              <a:defRPr sz="1350" b="1">
                <a:solidFill>
                  <a:srgbClr val="087E83"/>
                </a:solidFill>
              </a:defRPr>
            </a:lvl2pPr>
            <a:lvl3pPr>
              <a:defRPr sz="1350" b="1">
                <a:solidFill>
                  <a:srgbClr val="087E83"/>
                </a:solidFill>
              </a:defRPr>
            </a:lvl3pPr>
            <a:lvl4pPr>
              <a:defRPr sz="1350" b="1">
                <a:solidFill>
                  <a:srgbClr val="087E83"/>
                </a:solidFill>
              </a:defRPr>
            </a:lvl4pPr>
            <a:lvl5pPr>
              <a:defRPr sz="1350" b="1">
                <a:solidFill>
                  <a:srgbClr val="087E83"/>
                </a:solidFill>
              </a:defRPr>
            </a:lvl5pPr>
            <a:lvl6pPr>
              <a:defRPr sz="1350" b="1">
                <a:solidFill>
                  <a:srgbClr val="087E83"/>
                </a:solidFill>
              </a:defRPr>
            </a:lvl6pPr>
            <a:lvl7pPr>
              <a:defRPr sz="1350" b="1">
                <a:solidFill>
                  <a:srgbClr val="087E83"/>
                </a:solidFill>
              </a:defRPr>
            </a:lvl7pPr>
            <a:lvl8pPr>
              <a:defRPr sz="1350" b="1">
                <a:solidFill>
                  <a:srgbClr val="087E83"/>
                </a:solidFill>
              </a:defRPr>
            </a:lvl8pPr>
            <a:lvl9pPr>
              <a:defRPr sz="1350" b="1">
                <a:solidFill>
                  <a:srgbClr val="087E83"/>
                </a:solidFill>
              </a:defRPr>
            </a:lvl9pPr>
          </a:lstStyle>
          <a:p xmlns:a="http://schemas.openxmlformats.org/drawingml/2006/main">
            <a:pPr>
              <a:defRPr sz="1350" b="1">
                <a:solidFill>
                  <a:srgbClr val="087E83"/>
                </a:solidFill>
              </a:defRPr>
            </a:pPr>
            <a:r>
              <a:rPr sz="1350" b="1">
                <a:solidFill>
                  <a:srgbClr val="087E83"/>
                </a:solidFill>
              </a:rPr>
              <a:t>06</a:t>
            </a:r>
          </a:p>
        </p:txBody>
      </p:sp>
      <p:sp>
        <p:nvSpPr>
          <p:cNvPr id="2" name="">
            <a:extLst xmlns:a="http://schemas.openxmlformats.org/drawingml/2006/main">
              <a:ext uri="{FF2B5EF4-FFF2-40B4-BE49-F238E27FC236}">
                <a16:creationId xmlns:a16="http://schemas.microsoft.com/office/drawing/2014/main" id="{6D07C188-0F59-4379-A5E7-B9E35207226C}"/>
              </a:ext>
            </a:extLst>
          </p:cNvPr>
          <p:cNvSpPr>
            <a:spLocks xmlns:a="http://schemas.openxmlformats.org/drawingml/2006/main" noGrp="1"/>
          </p:cNvSpPr>
          <p:nvPr/>
        </p:nvSpPr>
        <p:spPr>
          <a:xfrm xmlns:a="http://schemas.openxmlformats.org/drawingml/2006/main">
            <a:off x="685800" y="8572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1283F"/>
                </a:solidFill>
              </a:defRPr>
            </a:defPPr>
            <a:lvl1pPr>
              <a:defRPr sz="3300" b="1">
                <a:solidFill>
                  <a:srgbClr val="11283F"/>
                </a:solidFill>
              </a:defRPr>
            </a:lvl1pPr>
            <a:lvl2pPr>
              <a:defRPr sz="3300" b="1">
                <a:solidFill>
                  <a:srgbClr val="11283F"/>
                </a:solidFill>
              </a:defRPr>
            </a:lvl2pPr>
            <a:lvl3pPr>
              <a:defRPr sz="3300" b="1">
                <a:solidFill>
                  <a:srgbClr val="11283F"/>
                </a:solidFill>
              </a:defRPr>
            </a:lvl3pPr>
            <a:lvl4pPr>
              <a:defRPr sz="3300" b="1">
                <a:solidFill>
                  <a:srgbClr val="11283F"/>
                </a:solidFill>
              </a:defRPr>
            </a:lvl4pPr>
            <a:lvl5pPr>
              <a:defRPr sz="3300" b="1">
                <a:solidFill>
                  <a:srgbClr val="11283F"/>
                </a:solidFill>
              </a:defRPr>
            </a:lvl5pPr>
            <a:lvl6pPr>
              <a:defRPr sz="3300" b="1">
                <a:solidFill>
                  <a:srgbClr val="11283F"/>
                </a:solidFill>
              </a:defRPr>
            </a:lvl6pPr>
            <a:lvl7pPr>
              <a:defRPr sz="3300" b="1">
                <a:solidFill>
                  <a:srgbClr val="11283F"/>
                </a:solidFill>
              </a:defRPr>
            </a:lvl7pPr>
            <a:lvl8pPr>
              <a:defRPr sz="3300" b="1">
                <a:solidFill>
                  <a:srgbClr val="11283F"/>
                </a:solidFill>
              </a:defRPr>
            </a:lvl8pPr>
            <a:lvl9pPr>
              <a:defRPr sz="3300" b="1">
                <a:solidFill>
                  <a:srgbClr val="11283F"/>
                </a:solidFill>
              </a:defRPr>
            </a:lvl9pPr>
          </a:lstStyle>
          <a:p xmlns:a="http://schemas.openxmlformats.org/drawingml/2006/main">
            <a:pPr>
              <a:defRPr sz="3300" b="1">
                <a:solidFill>
                  <a:srgbClr val="11283F"/>
                </a:solidFill>
              </a:defRPr>
            </a:pPr>
            <a:r>
              <a:rPr sz="3300" b="1">
                <a:solidFill>
                  <a:srgbClr val="11283F"/>
                </a:solidFill>
              </a:rPr>
              <a:t>Performance and error tradeoffs</a:t>
            </a:r>
          </a:p>
        </p:txBody>
      </p:sp>
      <p:sp>
        <p:nvSpPr>
          <p:cNvPr id="3" name="">
            <a:extLst xmlns:a="http://schemas.openxmlformats.org/drawingml/2006/main">
              <a:ext uri="{FF2B5EF4-FFF2-40B4-BE49-F238E27FC236}">
                <a16:creationId xmlns:a16="http://schemas.microsoft.com/office/drawing/2014/main" id="{8E5A2087-29DD-4C8C-AEB9-B4674FFC258B}"/>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374"/>
                </a:solidFill>
              </a:defRPr>
            </a:defPPr>
            <a:lvl1pPr>
              <a:defRPr sz="1350" b="0">
                <a:solidFill>
                  <a:srgbClr val="536374"/>
                </a:solidFill>
              </a:defRPr>
            </a:lvl1pPr>
            <a:lvl2pPr>
              <a:defRPr sz="1350" b="0">
                <a:solidFill>
                  <a:srgbClr val="536374"/>
                </a:solidFill>
              </a:defRPr>
            </a:lvl2pPr>
            <a:lvl3pPr>
              <a:defRPr sz="1350" b="0">
                <a:solidFill>
                  <a:srgbClr val="536374"/>
                </a:solidFill>
              </a:defRPr>
            </a:lvl3pPr>
            <a:lvl4pPr>
              <a:defRPr sz="1350" b="0">
                <a:solidFill>
                  <a:srgbClr val="536374"/>
                </a:solidFill>
              </a:defRPr>
            </a:lvl4pPr>
            <a:lvl5pPr>
              <a:defRPr sz="1350" b="0">
                <a:solidFill>
                  <a:srgbClr val="536374"/>
                </a:solidFill>
              </a:defRPr>
            </a:lvl5pPr>
            <a:lvl6pPr>
              <a:defRPr sz="1350" b="0">
                <a:solidFill>
                  <a:srgbClr val="536374"/>
                </a:solidFill>
              </a:defRPr>
            </a:lvl6pPr>
            <a:lvl7pPr>
              <a:defRPr sz="1350" b="0">
                <a:solidFill>
                  <a:srgbClr val="536374"/>
                </a:solidFill>
              </a:defRPr>
            </a:lvl7pPr>
            <a:lvl8pPr>
              <a:defRPr sz="1350" b="0">
                <a:solidFill>
                  <a:srgbClr val="536374"/>
                </a:solidFill>
              </a:defRPr>
            </a:lvl8pPr>
            <a:lvl9pPr>
              <a:defRPr sz="1350" b="0">
                <a:solidFill>
                  <a:srgbClr val="536374"/>
                </a:solidFill>
              </a:defRPr>
            </a:lvl9pPr>
          </a:lstStyle>
          <a:p xmlns:a="http://schemas.openxmlformats.org/drawingml/2006/main">
            <a:pPr>
              <a:defRPr sz="1350" b="0">
                <a:solidFill>
                  <a:srgbClr val="536374"/>
                </a:solidFill>
              </a:defRPr>
            </a:pPr>
            <a:r>
              <a:rPr sz="1350" b="0">
                <a:solidFill>
                  <a:srgbClr val="536374"/>
                </a:solidFill>
              </a:rPr>
              <a:t>6 / 8</a:t>
            </a:r>
          </a:p>
        </p:txBody>
      </p:sp>
      <p:graphicFrame>
        <p:nvGraphicFramePr>
          <p:cNvPr id="4" name="">
            <a:extLst xmlns:a="http://schemas.openxmlformats.org/drawingml/2006/main">
              <a:ext uri="{FF2B5EF4-FFF2-40B4-BE49-F238E27FC236}">
                <a16:creationId xmlns:a16="http://schemas.microsoft.com/office/drawing/2014/main" id="{B22E9C3B-F477-4576-96D4-E6103EBD30D3}"/>
              </a:ext>
            </a:extLst>
          </p:cNvPr>
          <p:cNvGraphicFramePr/>
          <p:nvPr/>
        </p:nvGraphicFramePr>
        <p:xfrm>
          <a:off xmlns:a="http://schemas.openxmlformats.org/drawingml/2006/main" x="685800" y="1952625"/>
          <a:ext xmlns:a="http://schemas.openxmlformats.org/drawingml/2006/main" cx="10820400" cy="2476500"/>
        </p:xfrm>
        <a:graphic xmlns:a="http://schemas.openxmlformats.org/drawingml/2006/main">
          <a:graphicData uri="http://schemas.openxmlformats.org/drawingml/2006/table">
            <a:tbl>
              <a:tblPr/>
              <a:tblGrid>
                <a:gridCol w="5105400"/>
                <a:gridCol w="2857500"/>
                <a:gridCol w="2857500"/>
              </a:tblGrid>
              <a:tr h="619125">
                <a:tc>
                  <a:txBody>
                    <a:bodyPr/>
                    <a:lstStyle/>
                    <a:p>
                      <a:r>
                        <a:rPr sz="1800" b="1">
                          <a:solidFill>
                            <a:srgbClr val="FFFFFF"/>
                          </a:solidFill>
                        </a:rPr>
                        <a:t>Model</a:t>
                      </a:r>
                    </a:p>
                  </a:txBody>
                  <a:tcPr marL="91440" marR="91440" marT="45720" marB="45720">
                    <a:lnL w="9525">
                      <a:solidFill>
                        <a:srgbClr val="D9E2E8"/>
                      </a:solidFill>
                      <a:prstDash val="solid"/>
                    </a:lnL>
                    <a:lnR w="9525">
                      <a:solidFill>
                        <a:srgbClr val="D9E2E8"/>
                      </a:solidFill>
                      <a:prstDash val="solid"/>
                    </a:lnR>
                    <a:lnT w="9525">
                      <a:solidFill>
                        <a:srgbClr val="D9E2E8"/>
                      </a:solidFill>
                      <a:prstDash val="solid"/>
                    </a:lnT>
                    <a:lnB w="9525">
                      <a:solidFill>
                        <a:srgbClr val="D9E2E8"/>
                      </a:solidFill>
                      <a:prstDash val="solid"/>
                    </a:lnB>
                    <a:solidFill>
                      <a:srgbClr val="11283F"/>
                    </a:solidFill>
                  </a:tcPr>
                </a:tc>
                <a:tc>
                  <a:txBody>
                    <a:bodyPr/>
                    <a:lstStyle/>
                    <a:p>
                      <a:r>
                        <a:rPr sz="1800" b="1">
                          <a:solidFill>
                            <a:srgbClr val="FFFFFF"/>
                          </a:solidFill>
                        </a:rPr>
                        <a:t>CV AUC</a:t>
                      </a:r>
                    </a:p>
                  </a:txBody>
                  <a:tcPr marL="91440" marR="91440" marT="45720" marB="45720">
                    <a:lnR w="9525">
                      <a:solidFill>
                        <a:srgbClr val="D9E2E8"/>
                      </a:solidFill>
                      <a:prstDash val="solid"/>
                    </a:lnR>
                    <a:lnT w="9525">
                      <a:solidFill>
                        <a:srgbClr val="D9E2E8"/>
                      </a:solidFill>
                      <a:prstDash val="solid"/>
                    </a:lnT>
                    <a:lnB w="9525">
                      <a:solidFill>
                        <a:srgbClr val="D9E2E8"/>
                      </a:solidFill>
                      <a:prstDash val="solid"/>
                    </a:lnB>
                    <a:solidFill>
                      <a:srgbClr val="11283F"/>
                    </a:solidFill>
                  </a:tcPr>
                </a:tc>
                <a:tc>
                  <a:txBody>
                    <a:bodyPr/>
                    <a:lstStyle/>
                    <a:p>
                      <a:r>
                        <a:rPr sz="1800" b="1">
                          <a:solidFill>
                            <a:srgbClr val="FFFFFF"/>
                          </a:solidFill>
                        </a:rPr>
                        <a:t>Holdout AUC</a:t>
                      </a:r>
                    </a:p>
                  </a:txBody>
                  <a:tcPr marL="91440" marR="91440" marT="45720" marB="45720">
                    <a:lnR w="9525">
                      <a:solidFill>
                        <a:srgbClr val="D9E2E8"/>
                      </a:solidFill>
                      <a:prstDash val="solid"/>
                    </a:lnR>
                    <a:lnT w="9525">
                      <a:solidFill>
                        <a:srgbClr val="D9E2E8"/>
                      </a:solidFill>
                      <a:prstDash val="solid"/>
                    </a:lnT>
                    <a:lnB w="9525">
                      <a:solidFill>
                        <a:srgbClr val="D9E2E8"/>
                      </a:solidFill>
                      <a:prstDash val="solid"/>
                    </a:lnB>
                    <a:solidFill>
                      <a:srgbClr val="11283F"/>
                    </a:solidFill>
                  </a:tcPr>
                </a:tc>
              </a:tr>
              <a:tr h="619125">
                <a:tc>
                  <a:txBody>
                    <a:bodyPr/>
                    <a:lstStyle/>
                    <a:p>
                      <a:r>
                        <a:rPr sz="1800" b="0">
                          <a:solidFill>
                            <a:srgbClr val="11283F"/>
                          </a:solidFill>
                        </a:rPr>
                        <a:t>Logistic regression</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0.7492</a:t>
                      </a:r>
                    </a:p>
                  </a:txBody>
                  <a:tcPr marL="91440" marR="91440" marT="45720" marB="45720">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0.7521</a:t>
                      </a:r>
                    </a:p>
                  </a:txBody>
                  <a:tcPr marL="91440" marR="91440" marT="45720" marB="45720">
                    <a:lnR w="9525">
                      <a:solidFill>
                        <a:srgbClr val="D9E2E8"/>
                      </a:solidFill>
                      <a:prstDash val="solid"/>
                    </a:lnR>
                    <a:lnB w="9525">
                      <a:solidFill>
                        <a:srgbClr val="D9E2E8"/>
                      </a:solidFill>
                      <a:prstDash val="solid"/>
                    </a:lnB>
                    <a:solidFill>
                      <a:srgbClr val="EEF4F5"/>
                    </a:solidFill>
                  </a:tcPr>
                </a:tc>
              </a:tr>
              <a:tr h="619125">
                <a:tc>
                  <a:txBody>
                    <a:bodyPr/>
                    <a:lstStyle/>
                    <a:p>
                      <a:r>
                        <a:rPr sz="1800" b="0">
                          <a:solidFill>
                            <a:srgbClr val="11283F"/>
                          </a:solidFill>
                        </a:rPr>
                        <a:t>Random forest</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FFFFFF"/>
                    </a:solidFill>
                  </a:tcPr>
                </a:tc>
                <a:tc>
                  <a:txBody>
                    <a:bodyPr/>
                    <a:lstStyle/>
                    <a:p>
                      <a:r>
                        <a:rPr sz="1800" b="0">
                          <a:solidFill>
                            <a:srgbClr val="11283F"/>
                          </a:solidFill>
                        </a:rPr>
                        <a:t>0.7401</a:t>
                      </a:r>
                    </a:p>
                  </a:txBody>
                  <a:tcPr marL="91440" marR="91440" marT="45720" marB="45720">
                    <a:lnR w="9525">
                      <a:solidFill>
                        <a:srgbClr val="D9E2E8"/>
                      </a:solidFill>
                      <a:prstDash val="solid"/>
                    </a:lnR>
                    <a:lnB w="9525">
                      <a:solidFill>
                        <a:srgbClr val="D9E2E8"/>
                      </a:solidFill>
                      <a:prstDash val="solid"/>
                    </a:lnB>
                    <a:solidFill>
                      <a:srgbClr val="FFFFFF"/>
                    </a:solidFill>
                  </a:tcPr>
                </a:tc>
                <a:tc>
                  <a:txBody>
                    <a:bodyPr/>
                    <a:lstStyle/>
                    <a:p>
                      <a:r>
                        <a:rPr sz="1800" b="0">
                          <a:solidFill>
                            <a:srgbClr val="11283F"/>
                          </a:solidFill>
                        </a:rPr>
                        <a:t>0.7443</a:t>
                      </a:r>
                    </a:p>
                  </a:txBody>
                  <a:tcPr marL="91440" marR="91440" marT="45720" marB="45720">
                    <a:lnR w="9525">
                      <a:solidFill>
                        <a:srgbClr val="D9E2E8"/>
                      </a:solidFill>
                      <a:prstDash val="solid"/>
                    </a:lnR>
                    <a:lnB w="9525">
                      <a:solidFill>
                        <a:srgbClr val="D9E2E8"/>
                      </a:solidFill>
                      <a:prstDash val="solid"/>
                    </a:lnB>
                    <a:solidFill>
                      <a:srgbClr val="FFFFFF"/>
                    </a:solidFill>
                  </a:tcPr>
                </a:tc>
              </a:tr>
              <a:tr h="619125">
                <a:tc>
                  <a:txBody>
                    <a:bodyPr/>
                    <a:lstStyle/>
                    <a:p>
                      <a:r>
                        <a:rPr sz="1800" b="0">
                          <a:solidFill>
                            <a:srgbClr val="11283F"/>
                          </a:solidFill>
                        </a:rPr>
                        <a:t>LightGBM</a:t>
                      </a:r>
                    </a:p>
                  </a:txBody>
                  <a:tcPr marL="91440" marR="91440" marT="45720" marB="45720">
                    <a:lnL w="9525">
                      <a:solidFill>
                        <a:srgbClr val="D9E2E8"/>
                      </a:solidFill>
                      <a:prstDash val="solid"/>
                    </a:lnL>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0.7607</a:t>
                      </a:r>
                    </a:p>
                  </a:txBody>
                  <a:tcPr marL="91440" marR="91440" marT="45720" marB="45720">
                    <a:lnR w="9525">
                      <a:solidFill>
                        <a:srgbClr val="D9E2E8"/>
                      </a:solidFill>
                      <a:prstDash val="solid"/>
                    </a:lnR>
                    <a:lnB w="9525">
                      <a:solidFill>
                        <a:srgbClr val="D9E2E8"/>
                      </a:solidFill>
                      <a:prstDash val="solid"/>
                    </a:lnB>
                    <a:solidFill>
                      <a:srgbClr val="EEF4F5"/>
                    </a:solidFill>
                  </a:tcPr>
                </a:tc>
                <a:tc>
                  <a:txBody>
                    <a:bodyPr/>
                    <a:lstStyle/>
                    <a:p>
                      <a:r>
                        <a:rPr sz="1800" b="0">
                          <a:solidFill>
                            <a:srgbClr val="11283F"/>
                          </a:solidFill>
                        </a:rPr>
                        <a:t>0.7649</a:t>
                      </a:r>
                    </a:p>
                  </a:txBody>
                  <a:tcPr marL="91440" marR="91440" marT="45720" marB="45720">
                    <a:lnR w="9525">
                      <a:solidFill>
                        <a:srgbClr val="D9E2E8"/>
                      </a:solidFill>
                      <a:prstDash val="solid"/>
                    </a:lnR>
                    <a:lnB w="9525">
                      <a:solidFill>
                        <a:srgbClr val="D9E2E8"/>
                      </a:solidFill>
                      <a:prstDash val="solid"/>
                    </a:lnB>
                    <a:solidFill>
                      <a:srgbClr val="EEF4F5"/>
                    </a:solidFill>
                  </a:tcPr>
                </a:tc>
              </a:tr>
            </a:tbl>
          </a:graphicData>
        </a:graphic>
      </p:graphicFrame>
      <p:sp>
        <p:nvSpPr>
          <p:cNvPr id="5" name="">
            <a:extLst xmlns:a="http://schemas.openxmlformats.org/drawingml/2006/main">
              <a:ext uri="{FF2B5EF4-FFF2-40B4-BE49-F238E27FC236}">
                <a16:creationId xmlns:a16="http://schemas.microsoft.com/office/drawing/2014/main" id="{81384C50-1942-4A21-B32D-653DB9BCE599}"/>
              </a:ext>
            </a:extLst>
          </p:cNvPr>
          <p:cNvSpPr>
            <a:spLocks xmlns:a="http://schemas.openxmlformats.org/drawingml/2006/main" noGrp="1"/>
          </p:cNvSpPr>
          <p:nvPr/>
        </p:nvSpPr>
        <p:spPr>
          <a:xfrm xmlns:a="http://schemas.openxmlformats.org/drawingml/2006/main">
            <a:off x="685800" y="466725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3"/>
                </a:solidFill>
              </a:defRPr>
            </a:defPPr>
            <a:lvl1pPr>
              <a:defRPr sz="2025" b="1">
                <a:solidFill>
                  <a:srgbClr val="087E83"/>
                </a:solidFill>
              </a:defRPr>
            </a:lvl1pPr>
            <a:lvl2pPr>
              <a:defRPr sz="2025" b="1">
                <a:solidFill>
                  <a:srgbClr val="087E83"/>
                </a:solidFill>
              </a:defRPr>
            </a:lvl2pPr>
            <a:lvl3pPr>
              <a:defRPr sz="2025" b="1">
                <a:solidFill>
                  <a:srgbClr val="087E83"/>
                </a:solidFill>
              </a:defRPr>
            </a:lvl3pPr>
            <a:lvl4pPr>
              <a:defRPr sz="2025" b="1">
                <a:solidFill>
                  <a:srgbClr val="087E83"/>
                </a:solidFill>
              </a:defRPr>
            </a:lvl4pPr>
            <a:lvl5pPr>
              <a:defRPr sz="2025" b="1">
                <a:solidFill>
                  <a:srgbClr val="087E83"/>
                </a:solidFill>
              </a:defRPr>
            </a:lvl5pPr>
            <a:lvl6pPr>
              <a:defRPr sz="2025" b="1">
                <a:solidFill>
                  <a:srgbClr val="087E83"/>
                </a:solidFill>
              </a:defRPr>
            </a:lvl6pPr>
            <a:lvl7pPr>
              <a:defRPr sz="2025" b="1">
                <a:solidFill>
                  <a:srgbClr val="087E83"/>
                </a:solidFill>
              </a:defRPr>
            </a:lvl7pPr>
            <a:lvl8pPr>
              <a:defRPr sz="2025" b="1">
                <a:solidFill>
                  <a:srgbClr val="087E83"/>
                </a:solidFill>
              </a:defRPr>
            </a:lvl8pPr>
            <a:lvl9pPr>
              <a:defRPr sz="2025" b="1">
                <a:solidFill>
                  <a:srgbClr val="087E83"/>
                </a:solidFill>
              </a:defRPr>
            </a:lvl9pPr>
          </a:lstStyle>
          <a:p xmlns:a="http://schemas.openxmlformats.org/drawingml/2006/main">
            <a:pPr>
              <a:defRPr sz="2025" b="1">
                <a:solidFill>
                  <a:srgbClr val="087E83"/>
                </a:solidFill>
              </a:defRPr>
            </a:pPr>
            <a:r>
              <a:rPr sz="2025" b="1">
                <a:solidFill>
                  <a:srgbClr val="087E83"/>
                </a:solidFill>
              </a:rPr>
              <a:t>Selected model: LightGBM     Threshold: 0.1563</a:t>
            </a:r>
          </a:p>
        </p:txBody>
      </p:sp>
      <p:sp>
        <p:nvSpPr>
          <p:cNvPr id="6" name="">
            <a:extLst xmlns:a="http://schemas.openxmlformats.org/drawingml/2006/main">
              <a:ext uri="{FF2B5EF4-FFF2-40B4-BE49-F238E27FC236}">
                <a16:creationId xmlns:a16="http://schemas.microsoft.com/office/drawing/2014/main" id="{C765203E-C8C8-40B0-84B7-BD77F55F12AD}"/>
              </a:ext>
            </a:extLst>
          </p:cNvPr>
          <p:cNvSpPr>
            <a:spLocks xmlns:a="http://schemas.openxmlformats.org/drawingml/2006/main" noGrp="1"/>
          </p:cNvSpPr>
          <p:nvPr/>
        </p:nvSpPr>
        <p:spPr>
          <a:xfrm xmlns:a="http://schemas.openxmlformats.org/drawingml/2006/main">
            <a:off x="685800" y="523875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1283F"/>
                </a:solidFill>
              </a:defRPr>
            </a:defPPr>
            <a:lvl1pPr>
              <a:defRPr sz="2025" b="0">
                <a:solidFill>
                  <a:srgbClr val="11283F"/>
                </a:solidFill>
              </a:defRPr>
            </a:lvl1pPr>
            <a:lvl2pPr>
              <a:defRPr sz="2025" b="0">
                <a:solidFill>
                  <a:srgbClr val="11283F"/>
                </a:solidFill>
              </a:defRPr>
            </a:lvl2pPr>
            <a:lvl3pPr>
              <a:defRPr sz="2025" b="0">
                <a:solidFill>
                  <a:srgbClr val="11283F"/>
                </a:solidFill>
              </a:defRPr>
            </a:lvl3pPr>
            <a:lvl4pPr>
              <a:defRPr sz="2025" b="0">
                <a:solidFill>
                  <a:srgbClr val="11283F"/>
                </a:solidFill>
              </a:defRPr>
            </a:lvl4pPr>
            <a:lvl5pPr>
              <a:defRPr sz="2025" b="0">
                <a:solidFill>
                  <a:srgbClr val="11283F"/>
                </a:solidFill>
              </a:defRPr>
            </a:lvl5pPr>
            <a:lvl6pPr>
              <a:defRPr sz="2025" b="0">
                <a:solidFill>
                  <a:srgbClr val="11283F"/>
                </a:solidFill>
              </a:defRPr>
            </a:lvl6pPr>
            <a:lvl7pPr>
              <a:defRPr sz="2025" b="0">
                <a:solidFill>
                  <a:srgbClr val="11283F"/>
                </a:solidFill>
              </a:defRPr>
            </a:lvl7pPr>
            <a:lvl8pPr>
              <a:defRPr sz="2025" b="0">
                <a:solidFill>
                  <a:srgbClr val="11283F"/>
                </a:solidFill>
              </a:defRPr>
            </a:lvl8pPr>
            <a:lvl9pPr>
              <a:defRPr sz="2025" b="0">
                <a:solidFill>
                  <a:srgbClr val="11283F"/>
                </a:solidFill>
              </a:defRPr>
            </a:lvl9pPr>
          </a:lstStyle>
          <a:p xmlns:a="http://schemas.openxmlformats.org/drawingml/2006/main">
            <a:pPr>
              <a:defRPr sz="2025" b="0">
                <a:solidFill>
                  <a:srgbClr val="11283F"/>
                </a:solidFill>
              </a:defRPr>
            </a:pPr>
            <a:r>
              <a:rPr sz="2025" b="0">
                <a:solidFill>
                  <a:srgbClr val="11283F"/>
                </a:solidFill>
              </a:rPr>
              <a:t>Precision: 25.67%     Recall: 41.41%     F1: 0.3169</a:t>
            </a:r>
          </a:p>
        </p:txBody>
      </p:sp>
      <p:sp>
        <p:nvSpPr>
          <p:cNvPr id="7" name="">
            <a:extLst xmlns:a="http://schemas.openxmlformats.org/drawingml/2006/main">
              <a:ext uri="{FF2B5EF4-FFF2-40B4-BE49-F238E27FC236}">
                <a16:creationId xmlns:a16="http://schemas.microsoft.com/office/drawing/2014/main" id="{6F0904EA-0CFC-4F93-AB39-EA1DBACC1D58}"/>
              </a:ext>
            </a:extLst>
          </p:cNvPr>
          <p:cNvSpPr>
            <a:spLocks xmlns:a="http://schemas.openxmlformats.org/drawingml/2006/main" noGrp="1"/>
          </p:cNvSpPr>
          <p:nvPr/>
        </p:nvSpPr>
        <p:spPr>
          <a:xfrm xmlns:a="http://schemas.openxmlformats.org/drawingml/2006/main">
            <a:off x="685800" y="58578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A45F12"/>
                </a:solidFill>
              </a:defRPr>
            </a:defPPr>
            <a:lvl1pPr>
              <a:defRPr sz="1650" b="1">
                <a:solidFill>
                  <a:srgbClr val="A45F12"/>
                </a:solidFill>
              </a:defRPr>
            </a:lvl1pPr>
            <a:lvl2pPr>
              <a:defRPr sz="1650" b="1">
                <a:solidFill>
                  <a:srgbClr val="A45F12"/>
                </a:solidFill>
              </a:defRPr>
            </a:lvl2pPr>
            <a:lvl3pPr>
              <a:defRPr sz="1650" b="1">
                <a:solidFill>
                  <a:srgbClr val="A45F12"/>
                </a:solidFill>
              </a:defRPr>
            </a:lvl3pPr>
            <a:lvl4pPr>
              <a:defRPr sz="1650" b="1">
                <a:solidFill>
                  <a:srgbClr val="A45F12"/>
                </a:solidFill>
              </a:defRPr>
            </a:lvl4pPr>
            <a:lvl5pPr>
              <a:defRPr sz="1650" b="1">
                <a:solidFill>
                  <a:srgbClr val="A45F12"/>
                </a:solidFill>
              </a:defRPr>
            </a:lvl5pPr>
            <a:lvl6pPr>
              <a:defRPr sz="1650" b="1">
                <a:solidFill>
                  <a:srgbClr val="A45F12"/>
                </a:solidFill>
              </a:defRPr>
            </a:lvl6pPr>
            <a:lvl7pPr>
              <a:defRPr sz="1650" b="1">
                <a:solidFill>
                  <a:srgbClr val="A45F12"/>
                </a:solidFill>
              </a:defRPr>
            </a:lvl7pPr>
            <a:lvl8pPr>
              <a:defRPr sz="1650" b="1">
                <a:solidFill>
                  <a:srgbClr val="A45F12"/>
                </a:solidFill>
              </a:defRPr>
            </a:lvl8pPr>
            <a:lvl9pPr>
              <a:defRPr sz="1650" b="1">
                <a:solidFill>
                  <a:srgbClr val="A45F12"/>
                </a:solidFill>
              </a:defRPr>
            </a:lvl9pPr>
          </a:lstStyle>
          <a:p xmlns:a="http://schemas.openxmlformats.org/drawingml/2006/main">
            <a:pPr>
              <a:defRPr sz="1650" b="1">
                <a:solidFill>
                  <a:srgbClr val="A45F12"/>
                </a:solidFill>
              </a:defRPr>
            </a:pPr>
            <a:r>
              <a:rPr sz="1650" b="1">
                <a:solidFill>
                  <a:srgbClr val="A45F12"/>
                </a:solidFill>
              </a:rPr>
              <a:t>307,511 applicants; 126 input features; historical-table use unconfirmed</a:t>
            </a:r>
          </a:p>
        </p:txBody>
      </p:sp>
    </p:spTree>
    <p:extLst>
      <p:ext uri="{BB962C8B-B14F-4D97-AF65-F5344CB8AC3E}">
        <p14:creationId xmlns:p14="http://schemas.microsoft.com/office/powerpoint/2010/main" val="1727549869"/>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671E90-7965-4434-BFB4-10549DB34ECA}"/>
              </a:ext>
            </a:extLst>
          </p:cNvPr>
          <p:cNvSpPr>
            <a:spLocks xmlns:a="http://schemas.openxmlformats.org/drawingml/2006/main" noGrp="1"/>
          </p:cNvSpPr>
          <p:nvPr/>
        </p:nvSpPr>
        <p:spPr>
          <a:xfrm xmlns:a="http://schemas.openxmlformats.org/drawingml/2006/main">
            <a:off x="685800" y="33337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87E83"/>
                </a:solidFill>
              </a:defRPr>
            </a:defPPr>
            <a:lvl1pPr>
              <a:defRPr sz="1350" b="1">
                <a:solidFill>
                  <a:srgbClr val="087E83"/>
                </a:solidFill>
              </a:defRPr>
            </a:lvl1pPr>
            <a:lvl2pPr>
              <a:defRPr sz="1350" b="1">
                <a:solidFill>
                  <a:srgbClr val="087E83"/>
                </a:solidFill>
              </a:defRPr>
            </a:lvl2pPr>
            <a:lvl3pPr>
              <a:defRPr sz="1350" b="1">
                <a:solidFill>
                  <a:srgbClr val="087E83"/>
                </a:solidFill>
              </a:defRPr>
            </a:lvl3pPr>
            <a:lvl4pPr>
              <a:defRPr sz="1350" b="1">
                <a:solidFill>
                  <a:srgbClr val="087E83"/>
                </a:solidFill>
              </a:defRPr>
            </a:lvl4pPr>
            <a:lvl5pPr>
              <a:defRPr sz="1350" b="1">
                <a:solidFill>
                  <a:srgbClr val="087E83"/>
                </a:solidFill>
              </a:defRPr>
            </a:lvl5pPr>
            <a:lvl6pPr>
              <a:defRPr sz="1350" b="1">
                <a:solidFill>
                  <a:srgbClr val="087E83"/>
                </a:solidFill>
              </a:defRPr>
            </a:lvl6pPr>
            <a:lvl7pPr>
              <a:defRPr sz="1350" b="1">
                <a:solidFill>
                  <a:srgbClr val="087E83"/>
                </a:solidFill>
              </a:defRPr>
            </a:lvl7pPr>
            <a:lvl8pPr>
              <a:defRPr sz="1350" b="1">
                <a:solidFill>
                  <a:srgbClr val="087E83"/>
                </a:solidFill>
              </a:defRPr>
            </a:lvl8pPr>
            <a:lvl9pPr>
              <a:defRPr sz="1350" b="1">
                <a:solidFill>
                  <a:srgbClr val="087E83"/>
                </a:solidFill>
              </a:defRPr>
            </a:lvl9pPr>
          </a:lstStyle>
          <a:p xmlns:a="http://schemas.openxmlformats.org/drawingml/2006/main">
            <a:pPr>
              <a:defRPr sz="1350" b="1">
                <a:solidFill>
                  <a:srgbClr val="087E83"/>
                </a:solidFill>
              </a:defRPr>
            </a:pPr>
            <a:r>
              <a:rPr sz="1350" b="1">
                <a:solidFill>
                  <a:srgbClr val="087E83"/>
                </a:solidFill>
              </a:rPr>
              <a:t>07</a:t>
            </a:r>
          </a:p>
        </p:txBody>
      </p:sp>
      <p:sp>
        <p:nvSpPr>
          <p:cNvPr id="2" name="">
            <a:extLst xmlns:a="http://schemas.openxmlformats.org/drawingml/2006/main">
              <a:ext uri="{FF2B5EF4-FFF2-40B4-BE49-F238E27FC236}">
                <a16:creationId xmlns:a16="http://schemas.microsoft.com/office/drawing/2014/main" id="{00187B2A-227A-4A3A-9F04-0B0B0662DB75}"/>
              </a:ext>
            </a:extLst>
          </p:cNvPr>
          <p:cNvSpPr>
            <a:spLocks xmlns:a="http://schemas.openxmlformats.org/drawingml/2006/main" noGrp="1"/>
          </p:cNvSpPr>
          <p:nvPr/>
        </p:nvSpPr>
        <p:spPr>
          <a:xfrm xmlns:a="http://schemas.openxmlformats.org/drawingml/2006/main">
            <a:off x="685800" y="8572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1283F"/>
                </a:solidFill>
              </a:defRPr>
            </a:defPPr>
            <a:lvl1pPr>
              <a:defRPr sz="3300" b="1">
                <a:solidFill>
                  <a:srgbClr val="11283F"/>
                </a:solidFill>
              </a:defRPr>
            </a:lvl1pPr>
            <a:lvl2pPr>
              <a:defRPr sz="3300" b="1">
                <a:solidFill>
                  <a:srgbClr val="11283F"/>
                </a:solidFill>
              </a:defRPr>
            </a:lvl2pPr>
            <a:lvl3pPr>
              <a:defRPr sz="3300" b="1">
                <a:solidFill>
                  <a:srgbClr val="11283F"/>
                </a:solidFill>
              </a:defRPr>
            </a:lvl3pPr>
            <a:lvl4pPr>
              <a:defRPr sz="3300" b="1">
                <a:solidFill>
                  <a:srgbClr val="11283F"/>
                </a:solidFill>
              </a:defRPr>
            </a:lvl4pPr>
            <a:lvl5pPr>
              <a:defRPr sz="3300" b="1">
                <a:solidFill>
                  <a:srgbClr val="11283F"/>
                </a:solidFill>
              </a:defRPr>
            </a:lvl5pPr>
            <a:lvl6pPr>
              <a:defRPr sz="3300" b="1">
                <a:solidFill>
                  <a:srgbClr val="11283F"/>
                </a:solidFill>
              </a:defRPr>
            </a:lvl6pPr>
            <a:lvl7pPr>
              <a:defRPr sz="3300" b="1">
                <a:solidFill>
                  <a:srgbClr val="11283F"/>
                </a:solidFill>
              </a:defRPr>
            </a:lvl7pPr>
            <a:lvl8pPr>
              <a:defRPr sz="3300" b="1">
                <a:solidFill>
                  <a:srgbClr val="11283F"/>
                </a:solidFill>
              </a:defRPr>
            </a:lvl8pPr>
            <a:lvl9pPr>
              <a:defRPr sz="3300" b="1">
                <a:solidFill>
                  <a:srgbClr val="11283F"/>
                </a:solidFill>
              </a:defRPr>
            </a:lvl9pPr>
          </a:lstStyle>
          <a:p xmlns:a="http://schemas.openxmlformats.org/drawingml/2006/main">
            <a:pPr>
              <a:defRPr sz="3300" b="1">
                <a:solidFill>
                  <a:srgbClr val="11283F"/>
                </a:solidFill>
              </a:defRPr>
            </a:pPr>
            <a:r>
              <a:rPr sz="3300" b="1">
                <a:solidFill>
                  <a:srgbClr val="11283F"/>
                </a:solidFill>
              </a:rPr>
              <a:t>Model interpretation and final predictions</a:t>
            </a:r>
          </a:p>
        </p:txBody>
      </p:sp>
      <p:sp>
        <p:nvSpPr>
          <p:cNvPr id="3" name="">
            <a:extLst xmlns:a="http://schemas.openxmlformats.org/drawingml/2006/main">
              <a:ext uri="{FF2B5EF4-FFF2-40B4-BE49-F238E27FC236}">
                <a16:creationId xmlns:a16="http://schemas.microsoft.com/office/drawing/2014/main" id="{AC88EE9B-1706-42DE-BF4F-BD12EC4EDC9C}"/>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374"/>
                </a:solidFill>
              </a:defRPr>
            </a:defPPr>
            <a:lvl1pPr>
              <a:defRPr sz="1350" b="0">
                <a:solidFill>
                  <a:srgbClr val="536374"/>
                </a:solidFill>
              </a:defRPr>
            </a:lvl1pPr>
            <a:lvl2pPr>
              <a:defRPr sz="1350" b="0">
                <a:solidFill>
                  <a:srgbClr val="536374"/>
                </a:solidFill>
              </a:defRPr>
            </a:lvl2pPr>
            <a:lvl3pPr>
              <a:defRPr sz="1350" b="0">
                <a:solidFill>
                  <a:srgbClr val="536374"/>
                </a:solidFill>
              </a:defRPr>
            </a:lvl3pPr>
            <a:lvl4pPr>
              <a:defRPr sz="1350" b="0">
                <a:solidFill>
                  <a:srgbClr val="536374"/>
                </a:solidFill>
              </a:defRPr>
            </a:lvl4pPr>
            <a:lvl5pPr>
              <a:defRPr sz="1350" b="0">
                <a:solidFill>
                  <a:srgbClr val="536374"/>
                </a:solidFill>
              </a:defRPr>
            </a:lvl5pPr>
            <a:lvl6pPr>
              <a:defRPr sz="1350" b="0">
                <a:solidFill>
                  <a:srgbClr val="536374"/>
                </a:solidFill>
              </a:defRPr>
            </a:lvl6pPr>
            <a:lvl7pPr>
              <a:defRPr sz="1350" b="0">
                <a:solidFill>
                  <a:srgbClr val="536374"/>
                </a:solidFill>
              </a:defRPr>
            </a:lvl7pPr>
            <a:lvl8pPr>
              <a:defRPr sz="1350" b="0">
                <a:solidFill>
                  <a:srgbClr val="536374"/>
                </a:solidFill>
              </a:defRPr>
            </a:lvl8pPr>
            <a:lvl9pPr>
              <a:defRPr sz="1350" b="0">
                <a:solidFill>
                  <a:srgbClr val="536374"/>
                </a:solidFill>
              </a:defRPr>
            </a:lvl9pPr>
          </a:lstStyle>
          <a:p xmlns:a="http://schemas.openxmlformats.org/drawingml/2006/main">
            <a:pPr>
              <a:defRPr sz="1350" b="0">
                <a:solidFill>
                  <a:srgbClr val="536374"/>
                </a:solidFill>
              </a:defRPr>
            </a:pPr>
            <a:r>
              <a:rPr sz="1350" b="0">
                <a:solidFill>
                  <a:srgbClr val="536374"/>
                </a:solidFill>
              </a:rPr>
              <a:t>7 / 8</a:t>
            </a:r>
          </a:p>
        </p:txBody>
      </p:sp>
      <p:sp>
        <p:nvSpPr>
          <p:cNvPr id="4" name="">
            <a:extLst xmlns:a="http://schemas.openxmlformats.org/drawingml/2006/main">
              <a:ext uri="{FF2B5EF4-FFF2-40B4-BE49-F238E27FC236}">
                <a16:creationId xmlns:a16="http://schemas.microsoft.com/office/drawing/2014/main" id="{7920D973-C747-492B-ABE0-F89296275CB0}"/>
              </a:ext>
            </a:extLst>
          </p:cNvPr>
          <p:cNvSpPr>
            <a:spLocks xmlns:a="http://schemas.openxmlformats.org/drawingml/2006/main" noGrp="1"/>
          </p:cNvSpPr>
          <p:nvPr/>
        </p:nvSpPr>
        <p:spPr>
          <a:xfrm xmlns:a="http://schemas.openxmlformats.org/drawingml/2006/main">
            <a:off x="685800" y="2095500"/>
            <a:ext cx="590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87E83"/>
                </a:solidFill>
              </a:defRPr>
            </a:defPPr>
            <a:lvl1pPr>
              <a:defRPr sz="2850" b="1">
                <a:solidFill>
                  <a:srgbClr val="087E83"/>
                </a:solidFill>
              </a:defRPr>
            </a:lvl1pPr>
            <a:lvl2pPr>
              <a:defRPr sz="2850" b="1">
                <a:solidFill>
                  <a:srgbClr val="087E83"/>
                </a:solidFill>
              </a:defRPr>
            </a:lvl2pPr>
            <a:lvl3pPr>
              <a:defRPr sz="2850" b="1">
                <a:solidFill>
                  <a:srgbClr val="087E83"/>
                </a:solidFill>
              </a:defRPr>
            </a:lvl3pPr>
            <a:lvl4pPr>
              <a:defRPr sz="2850" b="1">
                <a:solidFill>
                  <a:srgbClr val="087E83"/>
                </a:solidFill>
              </a:defRPr>
            </a:lvl4pPr>
            <a:lvl5pPr>
              <a:defRPr sz="2850" b="1">
                <a:solidFill>
                  <a:srgbClr val="087E83"/>
                </a:solidFill>
              </a:defRPr>
            </a:lvl5pPr>
            <a:lvl6pPr>
              <a:defRPr sz="2850" b="1">
                <a:solidFill>
                  <a:srgbClr val="087E83"/>
                </a:solidFill>
              </a:defRPr>
            </a:lvl6pPr>
            <a:lvl7pPr>
              <a:defRPr sz="2850" b="1">
                <a:solidFill>
                  <a:srgbClr val="087E83"/>
                </a:solidFill>
              </a:defRPr>
            </a:lvl7pPr>
            <a:lvl8pPr>
              <a:defRPr sz="2850" b="1">
                <a:solidFill>
                  <a:srgbClr val="087E83"/>
                </a:solidFill>
              </a:defRPr>
            </a:lvl8pPr>
            <a:lvl9pPr>
              <a:defRPr sz="2850" b="1">
                <a:solidFill>
                  <a:srgbClr val="087E83"/>
                </a:solidFill>
              </a:defRPr>
            </a:lvl9pPr>
          </a:lstStyle>
          <a:p xmlns:a="http://schemas.openxmlformats.org/drawingml/2006/main">
            <a:pPr>
              <a:defRPr sz="2850" b="1">
                <a:solidFill>
                  <a:srgbClr val="087E83"/>
                </a:solidFill>
              </a:defRPr>
            </a:pPr>
            <a:r>
              <a:rPr sz="2850" b="1">
                <a:solidFill>
                  <a:srgbClr val="087E83"/>
                </a:solidFill>
              </a:rPr>
              <a:t>Permutation importance</a:t>
            </a:r>
          </a:p>
        </p:txBody>
      </p:sp>
      <p:sp>
        <p:nvSpPr>
          <p:cNvPr id="5" name="">
            <a:extLst xmlns:a="http://schemas.openxmlformats.org/drawingml/2006/main">
              <a:ext uri="{FF2B5EF4-FFF2-40B4-BE49-F238E27FC236}">
                <a16:creationId xmlns:a16="http://schemas.microsoft.com/office/drawing/2014/main" id="{F91F5083-F73A-4FD3-9F30-4D5FC06190E9}"/>
              </a:ext>
            </a:extLst>
          </p:cNvPr>
          <p:cNvSpPr>
            <a:spLocks xmlns:a="http://schemas.openxmlformats.org/drawingml/2006/main" noGrp="1"/>
          </p:cNvSpPr>
          <p:nvPr/>
        </p:nvSpPr>
        <p:spPr>
          <a:xfrm xmlns:a="http://schemas.openxmlformats.org/drawingml/2006/main">
            <a:off x="685800" y="3000375"/>
            <a:ext cx="5905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1283F"/>
                </a:solidFill>
              </a:defRPr>
            </a:defPPr>
            <a:lvl1pPr>
              <a:defRPr sz="2250" b="0">
                <a:solidFill>
                  <a:srgbClr val="11283F"/>
                </a:solidFill>
              </a:defRPr>
            </a:lvl1pPr>
            <a:lvl2pPr>
              <a:defRPr sz="2250" b="0">
                <a:solidFill>
                  <a:srgbClr val="11283F"/>
                </a:solidFill>
              </a:defRPr>
            </a:lvl2pPr>
            <a:lvl3pPr>
              <a:defRPr sz="2250" b="0">
                <a:solidFill>
                  <a:srgbClr val="11283F"/>
                </a:solidFill>
              </a:defRPr>
            </a:lvl3pPr>
            <a:lvl4pPr>
              <a:defRPr sz="2250" b="0">
                <a:solidFill>
                  <a:srgbClr val="11283F"/>
                </a:solidFill>
              </a:defRPr>
            </a:lvl4pPr>
            <a:lvl5pPr>
              <a:defRPr sz="2250" b="0">
                <a:solidFill>
                  <a:srgbClr val="11283F"/>
                </a:solidFill>
              </a:defRPr>
            </a:lvl5pPr>
            <a:lvl6pPr>
              <a:defRPr sz="2250" b="0">
                <a:solidFill>
                  <a:srgbClr val="11283F"/>
                </a:solidFill>
              </a:defRPr>
            </a:lvl6pPr>
            <a:lvl7pPr>
              <a:defRPr sz="2250" b="0">
                <a:solidFill>
                  <a:srgbClr val="11283F"/>
                </a:solidFill>
              </a:defRPr>
            </a:lvl7pPr>
            <a:lvl8pPr>
              <a:defRPr sz="2250" b="0">
                <a:solidFill>
                  <a:srgbClr val="11283F"/>
                </a:solidFill>
              </a:defRPr>
            </a:lvl8pPr>
            <a:lvl9pPr>
              <a:defRPr sz="2250" b="0">
                <a:solidFill>
                  <a:srgbClr val="11283F"/>
                </a:solidFill>
              </a:defRPr>
            </a:lvl9pPr>
          </a:lstStyle>
          <a:p xmlns:a="http://schemas.openxmlformats.org/drawingml/2006/main">
            <a:pPr>
              <a:defRPr sz="2250" b="0">
                <a:solidFill>
                  <a:srgbClr val="11283F"/>
                </a:solidFill>
              </a:defRPr>
            </a:pPr>
            <a:r>
              <a:rPr sz="2250" b="0">
                <a:solidFill>
                  <a:srgbClr val="11283F"/>
                </a:solidFill>
              </a:rPr>
              <a:t>Shuffle one feature</a:t>
            </a:r>
          </a:p>
          <a:p xmlns:a="http://schemas.openxmlformats.org/drawingml/2006/main">
            <a:pPr>
              <a:defRPr sz="2250" b="0">
                <a:solidFill>
                  <a:srgbClr val="11283F"/>
                </a:solidFill>
              </a:defRPr>
            </a:pPr>
            <a:r>
              <a:rPr sz="2250" b="0">
                <a:solidFill>
                  <a:srgbClr val="11283F"/>
                </a:solidFill>
              </a:rPr>
              <a:t>Measure the AUC decrease</a:t>
            </a:r>
          </a:p>
          <a:p xmlns:a="http://schemas.openxmlformats.org/drawingml/2006/main">
            <a:pPr>
              <a:defRPr sz="2250" b="0">
                <a:solidFill>
                  <a:srgbClr val="11283F"/>
                </a:solidFill>
              </a:defRPr>
            </a:pPr>
            <a:r>
              <a:rPr sz="2250" b="0">
                <a:solidFill>
                  <a:srgbClr val="11283F"/>
                </a:solidFill>
              </a:rPr>
              <a:t>Computed on development data</a:t>
            </a:r>
          </a:p>
        </p:txBody>
      </p:sp>
      <p:sp>
        <p:nvSpPr>
          <p:cNvPr id="6" name="">
            <a:extLst xmlns:a="http://schemas.openxmlformats.org/drawingml/2006/main">
              <a:ext uri="{FF2B5EF4-FFF2-40B4-BE49-F238E27FC236}">
                <a16:creationId xmlns:a16="http://schemas.microsoft.com/office/drawing/2014/main" id="{DBA24D46-C2AD-4B2E-A160-CDD05C1A2566}"/>
              </a:ext>
            </a:extLst>
          </p:cNvPr>
          <p:cNvSpPr>
            <a:spLocks xmlns:a="http://schemas.openxmlformats.org/drawingml/2006/main" noGrp="1"/>
          </p:cNvSpPr>
          <p:nvPr/>
        </p:nvSpPr>
        <p:spPr>
          <a:xfrm xmlns:a="http://schemas.openxmlformats.org/drawingml/2006/main">
            <a:off x="7524750" y="209550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1283F"/>
                </a:solidFill>
              </a:defRPr>
            </a:defPPr>
            <a:lvl1pPr>
              <a:defRPr sz="2700" b="1">
                <a:solidFill>
                  <a:srgbClr val="11283F"/>
                </a:solidFill>
              </a:defRPr>
            </a:lvl1pPr>
            <a:lvl2pPr>
              <a:defRPr sz="2700" b="1">
                <a:solidFill>
                  <a:srgbClr val="11283F"/>
                </a:solidFill>
              </a:defRPr>
            </a:lvl2pPr>
            <a:lvl3pPr>
              <a:defRPr sz="2700" b="1">
                <a:solidFill>
                  <a:srgbClr val="11283F"/>
                </a:solidFill>
              </a:defRPr>
            </a:lvl3pPr>
            <a:lvl4pPr>
              <a:defRPr sz="2700" b="1">
                <a:solidFill>
                  <a:srgbClr val="11283F"/>
                </a:solidFill>
              </a:defRPr>
            </a:lvl4pPr>
            <a:lvl5pPr>
              <a:defRPr sz="2700" b="1">
                <a:solidFill>
                  <a:srgbClr val="11283F"/>
                </a:solidFill>
              </a:defRPr>
            </a:lvl5pPr>
            <a:lvl6pPr>
              <a:defRPr sz="2700" b="1">
                <a:solidFill>
                  <a:srgbClr val="11283F"/>
                </a:solidFill>
              </a:defRPr>
            </a:lvl6pPr>
            <a:lvl7pPr>
              <a:defRPr sz="2700" b="1">
                <a:solidFill>
                  <a:srgbClr val="11283F"/>
                </a:solidFill>
              </a:defRPr>
            </a:lvl7pPr>
            <a:lvl8pPr>
              <a:defRPr sz="2700" b="1">
                <a:solidFill>
                  <a:srgbClr val="11283F"/>
                </a:solidFill>
              </a:defRPr>
            </a:lvl8pPr>
            <a:lvl9pPr>
              <a:defRPr sz="2700" b="1">
                <a:solidFill>
                  <a:srgbClr val="11283F"/>
                </a:solidFill>
              </a:defRPr>
            </a:lvl9pPr>
          </a:lstStyle>
          <a:p xmlns:a="http://schemas.openxmlformats.org/drawingml/2006/main">
            <a:pPr>
              <a:defRPr sz="2700" b="1">
                <a:solidFill>
                  <a:srgbClr val="11283F"/>
                </a:solidFill>
              </a:defRPr>
            </a:pPr>
            <a:r>
              <a:rPr sz="2700" b="1">
                <a:solidFill>
                  <a:srgbClr val="11283F"/>
                </a:solidFill>
              </a:rPr>
              <a:t>Final submission</a:t>
            </a:r>
          </a:p>
        </p:txBody>
      </p:sp>
      <p:sp>
        <p:nvSpPr>
          <p:cNvPr id="7" name="">
            <a:extLst xmlns:a="http://schemas.openxmlformats.org/drawingml/2006/main">
              <a:ext uri="{FF2B5EF4-FFF2-40B4-BE49-F238E27FC236}">
                <a16:creationId xmlns:a16="http://schemas.microsoft.com/office/drawing/2014/main" id="{36CDC7B9-5DFC-4DFF-994B-E3A6B0BE848A}"/>
              </a:ext>
            </a:extLst>
          </p:cNvPr>
          <p:cNvSpPr>
            <a:spLocks xmlns:a="http://schemas.openxmlformats.org/drawingml/2006/main" noGrp="1"/>
          </p:cNvSpPr>
          <p:nvPr/>
        </p:nvSpPr>
        <p:spPr>
          <a:xfrm xmlns:a="http://schemas.openxmlformats.org/drawingml/2006/main">
            <a:off x="7524750" y="3000375"/>
            <a:ext cx="4000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1283F"/>
                </a:solidFill>
              </a:defRPr>
            </a:defPPr>
            <a:lvl1pPr>
              <a:defRPr sz="2100" b="0">
                <a:solidFill>
                  <a:srgbClr val="11283F"/>
                </a:solidFill>
              </a:defRPr>
            </a:lvl1pPr>
            <a:lvl2pPr>
              <a:defRPr sz="2100" b="0">
                <a:solidFill>
                  <a:srgbClr val="11283F"/>
                </a:solidFill>
              </a:defRPr>
            </a:lvl2pPr>
            <a:lvl3pPr>
              <a:defRPr sz="2100" b="0">
                <a:solidFill>
                  <a:srgbClr val="11283F"/>
                </a:solidFill>
              </a:defRPr>
            </a:lvl3pPr>
            <a:lvl4pPr>
              <a:defRPr sz="2100" b="0">
                <a:solidFill>
                  <a:srgbClr val="11283F"/>
                </a:solidFill>
              </a:defRPr>
            </a:lvl4pPr>
            <a:lvl5pPr>
              <a:defRPr sz="2100" b="0">
                <a:solidFill>
                  <a:srgbClr val="11283F"/>
                </a:solidFill>
              </a:defRPr>
            </a:lvl5pPr>
            <a:lvl6pPr>
              <a:defRPr sz="2100" b="0">
                <a:solidFill>
                  <a:srgbClr val="11283F"/>
                </a:solidFill>
              </a:defRPr>
            </a:lvl6pPr>
            <a:lvl7pPr>
              <a:defRPr sz="2100" b="0">
                <a:solidFill>
                  <a:srgbClr val="11283F"/>
                </a:solidFill>
              </a:defRPr>
            </a:lvl7pPr>
            <a:lvl8pPr>
              <a:defRPr sz="2100" b="0">
                <a:solidFill>
                  <a:srgbClr val="11283F"/>
                </a:solidFill>
              </a:defRPr>
            </a:lvl8pPr>
            <a:lvl9pPr>
              <a:defRPr sz="2100" b="0">
                <a:solidFill>
                  <a:srgbClr val="11283F"/>
                </a:solidFill>
              </a:defRPr>
            </a:lvl9pPr>
          </a:lstStyle>
          <a:p xmlns:a="http://schemas.openxmlformats.org/drawingml/2006/main">
            <a:pPr>
              <a:defRPr sz="2100" b="0">
                <a:solidFill>
                  <a:srgbClr val="11283F"/>
                </a:solidFill>
              </a:defRPr>
            </a:pPr>
            <a:r>
              <a:rPr sz="2100" b="0">
                <a:solidFill>
                  <a:srgbClr val="11283F"/>
                </a:solidFill>
              </a:rPr>
              <a:t>Refit on all labelled data</a:t>
            </a:r>
          </a:p>
          <a:p xmlns:a="http://schemas.openxmlformats.org/drawingml/2006/main">
            <a:pPr>
              <a:defRPr sz="2100" b="0">
                <a:solidFill>
                  <a:srgbClr val="11283F"/>
                </a:solidFill>
              </a:defRPr>
            </a:pPr>
            <a:r>
              <a:rPr sz="2100" b="0">
                <a:solidFill>
                  <a:srgbClr val="11283F"/>
                </a:solidFill>
              </a:rPr>
              <a:t>Predict unlabelled applicants</a:t>
            </a:r>
          </a:p>
          <a:p xmlns:a="http://schemas.openxmlformats.org/drawingml/2006/main">
            <a:pPr>
              <a:defRPr sz="2100" b="0">
                <a:solidFill>
                  <a:srgbClr val="11283F"/>
                </a:solidFill>
              </a:defRPr>
            </a:pPr>
            <a:r>
              <a:rPr sz="2100" b="0">
                <a:solidFill>
                  <a:srgbClr val="11283F"/>
                </a:solidFill>
              </a:rPr>
              <a:t>Export default probabilities</a:t>
            </a:r>
          </a:p>
        </p:txBody>
      </p:sp>
      <p:sp>
        <p:nvSpPr>
          <p:cNvPr id="8" name="">
            <a:extLst xmlns:a="http://schemas.openxmlformats.org/drawingml/2006/main">
              <a:ext uri="{FF2B5EF4-FFF2-40B4-BE49-F238E27FC236}">
                <a16:creationId xmlns:a16="http://schemas.microsoft.com/office/drawing/2014/main" id="{1E973BAE-CA6A-4F67-A7F9-822CBA1F4F8F}"/>
              </a:ext>
            </a:extLst>
          </p:cNvPr>
          <p:cNvSpPr>
            <a:spLocks xmlns:a="http://schemas.openxmlformats.org/drawingml/2006/main" noGrp="1"/>
          </p:cNvSpPr>
          <p:nvPr/>
        </p:nvSpPr>
        <p:spPr>
          <a:xfrm xmlns:a="http://schemas.openxmlformats.org/drawingml/2006/main">
            <a:off x="685800" y="557212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36374"/>
                </a:solidFill>
              </a:defRPr>
            </a:defPPr>
            <a:lvl1pPr>
              <a:defRPr sz="1950" b="0">
                <a:solidFill>
                  <a:srgbClr val="536374"/>
                </a:solidFill>
              </a:defRPr>
            </a:lvl1pPr>
            <a:lvl2pPr>
              <a:defRPr sz="1950" b="0">
                <a:solidFill>
                  <a:srgbClr val="536374"/>
                </a:solidFill>
              </a:defRPr>
            </a:lvl2pPr>
            <a:lvl3pPr>
              <a:defRPr sz="1950" b="0">
                <a:solidFill>
                  <a:srgbClr val="536374"/>
                </a:solidFill>
              </a:defRPr>
            </a:lvl3pPr>
            <a:lvl4pPr>
              <a:defRPr sz="1950" b="0">
                <a:solidFill>
                  <a:srgbClr val="536374"/>
                </a:solidFill>
              </a:defRPr>
            </a:lvl4pPr>
            <a:lvl5pPr>
              <a:defRPr sz="1950" b="0">
                <a:solidFill>
                  <a:srgbClr val="536374"/>
                </a:solidFill>
              </a:defRPr>
            </a:lvl5pPr>
            <a:lvl6pPr>
              <a:defRPr sz="1950" b="0">
                <a:solidFill>
                  <a:srgbClr val="536374"/>
                </a:solidFill>
              </a:defRPr>
            </a:lvl6pPr>
            <a:lvl7pPr>
              <a:defRPr sz="1950" b="0">
                <a:solidFill>
                  <a:srgbClr val="536374"/>
                </a:solidFill>
              </a:defRPr>
            </a:lvl7pPr>
            <a:lvl8pPr>
              <a:defRPr sz="1950" b="0">
                <a:solidFill>
                  <a:srgbClr val="536374"/>
                </a:solidFill>
              </a:defRPr>
            </a:lvl8pPr>
            <a:lvl9pPr>
              <a:defRPr sz="1950" b="0">
                <a:solidFill>
                  <a:srgbClr val="536374"/>
                </a:solidFill>
              </a:defRPr>
            </a:lvl9pPr>
          </a:lstStyle>
          <a:p xmlns:a="http://schemas.openxmlformats.org/drawingml/2006/main">
            <a:pPr>
              <a:defRPr sz="1950" b="0">
                <a:solidFill>
                  <a:srgbClr val="536374"/>
                </a:solidFill>
              </a:defRPr>
            </a:pPr>
            <a:r>
              <a:rPr sz="1950" b="0">
                <a:solidFill>
                  <a:srgbClr val="536374"/>
                </a:solidFill>
              </a:rPr>
              <a:t>SHAP explains LightGBM. Importance describes association, not causation.</a:t>
            </a:r>
          </a:p>
        </p:txBody>
      </p:sp>
    </p:spTree>
    <p:extLst>
      <p:ext uri="{BB962C8B-B14F-4D97-AF65-F5344CB8AC3E}">
        <p14:creationId xmlns:p14="http://schemas.microsoft.com/office/powerpoint/2010/main" val="950320290"/>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A16438-7A4C-4931-AF91-33343D764488}"/>
              </a:ext>
            </a:extLst>
          </p:cNvPr>
          <p:cNvSpPr>
            <a:spLocks xmlns:a="http://schemas.openxmlformats.org/drawingml/2006/main" noGrp="1"/>
          </p:cNvSpPr>
          <p:nvPr/>
        </p:nvSpPr>
        <p:spPr>
          <a:xfrm xmlns:a="http://schemas.openxmlformats.org/drawingml/2006/main">
            <a:off x="685800" y="33337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87E83"/>
                </a:solidFill>
              </a:defRPr>
            </a:defPPr>
            <a:lvl1pPr>
              <a:defRPr sz="1350" b="1">
                <a:solidFill>
                  <a:srgbClr val="087E83"/>
                </a:solidFill>
              </a:defRPr>
            </a:lvl1pPr>
            <a:lvl2pPr>
              <a:defRPr sz="1350" b="1">
                <a:solidFill>
                  <a:srgbClr val="087E83"/>
                </a:solidFill>
              </a:defRPr>
            </a:lvl2pPr>
            <a:lvl3pPr>
              <a:defRPr sz="1350" b="1">
                <a:solidFill>
                  <a:srgbClr val="087E83"/>
                </a:solidFill>
              </a:defRPr>
            </a:lvl3pPr>
            <a:lvl4pPr>
              <a:defRPr sz="1350" b="1">
                <a:solidFill>
                  <a:srgbClr val="087E83"/>
                </a:solidFill>
              </a:defRPr>
            </a:lvl4pPr>
            <a:lvl5pPr>
              <a:defRPr sz="1350" b="1">
                <a:solidFill>
                  <a:srgbClr val="087E83"/>
                </a:solidFill>
              </a:defRPr>
            </a:lvl5pPr>
            <a:lvl6pPr>
              <a:defRPr sz="1350" b="1">
                <a:solidFill>
                  <a:srgbClr val="087E83"/>
                </a:solidFill>
              </a:defRPr>
            </a:lvl6pPr>
            <a:lvl7pPr>
              <a:defRPr sz="1350" b="1">
                <a:solidFill>
                  <a:srgbClr val="087E83"/>
                </a:solidFill>
              </a:defRPr>
            </a:lvl7pPr>
            <a:lvl8pPr>
              <a:defRPr sz="1350" b="1">
                <a:solidFill>
                  <a:srgbClr val="087E83"/>
                </a:solidFill>
              </a:defRPr>
            </a:lvl8pPr>
            <a:lvl9pPr>
              <a:defRPr sz="1350" b="1">
                <a:solidFill>
                  <a:srgbClr val="087E83"/>
                </a:solidFill>
              </a:defRPr>
            </a:lvl9pPr>
          </a:lstStyle>
          <a:p xmlns:a="http://schemas.openxmlformats.org/drawingml/2006/main">
            <a:pPr>
              <a:defRPr sz="1350" b="1">
                <a:solidFill>
                  <a:srgbClr val="087E83"/>
                </a:solidFill>
              </a:defRPr>
            </a:pPr>
            <a:r>
              <a:rPr sz="1350" b="1">
                <a:solidFill>
                  <a:srgbClr val="087E83"/>
                </a:solidFill>
              </a:rPr>
              <a:t>08</a:t>
            </a:r>
          </a:p>
        </p:txBody>
      </p:sp>
      <p:sp>
        <p:nvSpPr>
          <p:cNvPr id="2" name="">
            <a:extLst xmlns:a="http://schemas.openxmlformats.org/drawingml/2006/main">
              <a:ext uri="{FF2B5EF4-FFF2-40B4-BE49-F238E27FC236}">
                <a16:creationId xmlns:a16="http://schemas.microsoft.com/office/drawing/2014/main" id="{857389EA-59D2-42C5-8E5D-34F1CF292C3B}"/>
              </a:ext>
            </a:extLst>
          </p:cNvPr>
          <p:cNvSpPr>
            <a:spLocks xmlns:a="http://schemas.openxmlformats.org/drawingml/2006/main" noGrp="1"/>
          </p:cNvSpPr>
          <p:nvPr/>
        </p:nvSpPr>
        <p:spPr>
          <a:xfrm xmlns:a="http://schemas.openxmlformats.org/drawingml/2006/main">
            <a:off x="685800" y="85725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1283F"/>
                </a:solidFill>
              </a:defRPr>
            </a:defPPr>
            <a:lvl1pPr>
              <a:defRPr sz="3300" b="1">
                <a:solidFill>
                  <a:srgbClr val="11283F"/>
                </a:solidFill>
              </a:defRPr>
            </a:lvl1pPr>
            <a:lvl2pPr>
              <a:defRPr sz="3300" b="1">
                <a:solidFill>
                  <a:srgbClr val="11283F"/>
                </a:solidFill>
              </a:defRPr>
            </a:lvl2pPr>
            <a:lvl3pPr>
              <a:defRPr sz="3300" b="1">
                <a:solidFill>
                  <a:srgbClr val="11283F"/>
                </a:solidFill>
              </a:defRPr>
            </a:lvl3pPr>
            <a:lvl4pPr>
              <a:defRPr sz="3300" b="1">
                <a:solidFill>
                  <a:srgbClr val="11283F"/>
                </a:solidFill>
              </a:defRPr>
            </a:lvl4pPr>
            <a:lvl5pPr>
              <a:defRPr sz="3300" b="1">
                <a:solidFill>
                  <a:srgbClr val="11283F"/>
                </a:solidFill>
              </a:defRPr>
            </a:lvl5pPr>
            <a:lvl6pPr>
              <a:defRPr sz="3300" b="1">
                <a:solidFill>
                  <a:srgbClr val="11283F"/>
                </a:solidFill>
              </a:defRPr>
            </a:lvl6pPr>
            <a:lvl7pPr>
              <a:defRPr sz="3300" b="1">
                <a:solidFill>
                  <a:srgbClr val="11283F"/>
                </a:solidFill>
              </a:defRPr>
            </a:lvl7pPr>
            <a:lvl8pPr>
              <a:defRPr sz="3300" b="1">
                <a:solidFill>
                  <a:srgbClr val="11283F"/>
                </a:solidFill>
              </a:defRPr>
            </a:lvl8pPr>
            <a:lvl9pPr>
              <a:defRPr sz="3300" b="1">
                <a:solidFill>
                  <a:srgbClr val="11283F"/>
                </a:solidFill>
              </a:defRPr>
            </a:lvl9pPr>
          </a:lstStyle>
          <a:p xmlns:a="http://schemas.openxmlformats.org/drawingml/2006/main">
            <a:pPr>
              <a:defRPr sz="3300" b="1">
                <a:solidFill>
                  <a:srgbClr val="11283F"/>
                </a:solidFill>
              </a:defRPr>
            </a:pPr>
            <a:r>
              <a:rPr sz="3300" b="1">
                <a:solidFill>
                  <a:srgbClr val="11283F"/>
                </a:solidFill>
              </a:rPr>
              <a:t>Limitations and next steps</a:t>
            </a:r>
          </a:p>
        </p:txBody>
      </p:sp>
      <p:sp>
        <p:nvSpPr>
          <p:cNvPr id="3" name="">
            <a:extLst xmlns:a="http://schemas.openxmlformats.org/drawingml/2006/main">
              <a:ext uri="{FF2B5EF4-FFF2-40B4-BE49-F238E27FC236}">
                <a16:creationId xmlns:a16="http://schemas.microsoft.com/office/drawing/2014/main" id="{AFA5FA6B-41BC-4375-8770-14ECBCA2CB7E}"/>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374"/>
                </a:solidFill>
              </a:defRPr>
            </a:defPPr>
            <a:lvl1pPr>
              <a:defRPr sz="1350" b="0">
                <a:solidFill>
                  <a:srgbClr val="536374"/>
                </a:solidFill>
              </a:defRPr>
            </a:lvl1pPr>
            <a:lvl2pPr>
              <a:defRPr sz="1350" b="0">
                <a:solidFill>
                  <a:srgbClr val="536374"/>
                </a:solidFill>
              </a:defRPr>
            </a:lvl2pPr>
            <a:lvl3pPr>
              <a:defRPr sz="1350" b="0">
                <a:solidFill>
                  <a:srgbClr val="536374"/>
                </a:solidFill>
              </a:defRPr>
            </a:lvl3pPr>
            <a:lvl4pPr>
              <a:defRPr sz="1350" b="0">
                <a:solidFill>
                  <a:srgbClr val="536374"/>
                </a:solidFill>
              </a:defRPr>
            </a:lvl4pPr>
            <a:lvl5pPr>
              <a:defRPr sz="1350" b="0">
                <a:solidFill>
                  <a:srgbClr val="536374"/>
                </a:solidFill>
              </a:defRPr>
            </a:lvl5pPr>
            <a:lvl6pPr>
              <a:defRPr sz="1350" b="0">
                <a:solidFill>
                  <a:srgbClr val="536374"/>
                </a:solidFill>
              </a:defRPr>
            </a:lvl6pPr>
            <a:lvl7pPr>
              <a:defRPr sz="1350" b="0">
                <a:solidFill>
                  <a:srgbClr val="536374"/>
                </a:solidFill>
              </a:defRPr>
            </a:lvl7pPr>
            <a:lvl8pPr>
              <a:defRPr sz="1350" b="0">
                <a:solidFill>
                  <a:srgbClr val="536374"/>
                </a:solidFill>
              </a:defRPr>
            </a:lvl8pPr>
            <a:lvl9pPr>
              <a:defRPr sz="1350" b="0">
                <a:solidFill>
                  <a:srgbClr val="536374"/>
                </a:solidFill>
              </a:defRPr>
            </a:lvl9pPr>
          </a:lstStyle>
          <a:p xmlns:a="http://schemas.openxmlformats.org/drawingml/2006/main">
            <a:pPr>
              <a:defRPr sz="1350" b="0">
                <a:solidFill>
                  <a:srgbClr val="536374"/>
                </a:solidFill>
              </a:defRPr>
            </a:pPr>
            <a:r>
              <a:rPr sz="1350" b="0">
                <a:solidFill>
                  <a:srgbClr val="536374"/>
                </a:solidFill>
              </a:rPr>
              <a:t>8 / 8</a:t>
            </a:r>
          </a:p>
        </p:txBody>
      </p:sp>
      <p:sp>
        <p:nvSpPr>
          <p:cNvPr id="4" name="">
            <a:extLst xmlns:a="http://schemas.openxmlformats.org/drawingml/2006/main">
              <a:ext uri="{FF2B5EF4-FFF2-40B4-BE49-F238E27FC236}">
                <a16:creationId xmlns:a16="http://schemas.microsoft.com/office/drawing/2014/main" id="{888ED6D3-2925-40C4-9F91-06A47ADAD859}"/>
              </a:ext>
            </a:extLst>
          </p:cNvPr>
          <p:cNvSpPr>
            <a:spLocks xmlns:a="http://schemas.openxmlformats.org/drawingml/2006/main" noGrp="1"/>
          </p:cNvSpPr>
          <p:nvPr/>
        </p:nvSpPr>
        <p:spPr>
          <a:xfrm xmlns:a="http://schemas.openxmlformats.org/drawingml/2006/main">
            <a:off x="685800" y="20955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1283F"/>
                </a:solidFill>
              </a:defRPr>
            </a:defPPr>
            <a:lvl1pPr>
              <a:defRPr sz="2400" b="0">
                <a:solidFill>
                  <a:srgbClr val="11283F"/>
                </a:solidFill>
              </a:defRPr>
            </a:lvl1pPr>
            <a:lvl2pPr>
              <a:defRPr sz="2400" b="0">
                <a:solidFill>
                  <a:srgbClr val="11283F"/>
                </a:solidFill>
              </a:defRPr>
            </a:lvl2pPr>
            <a:lvl3pPr>
              <a:defRPr sz="2400" b="0">
                <a:solidFill>
                  <a:srgbClr val="11283F"/>
                </a:solidFill>
              </a:defRPr>
            </a:lvl3pPr>
            <a:lvl4pPr>
              <a:defRPr sz="2400" b="0">
                <a:solidFill>
                  <a:srgbClr val="11283F"/>
                </a:solidFill>
              </a:defRPr>
            </a:lvl4pPr>
            <a:lvl5pPr>
              <a:defRPr sz="2400" b="0">
                <a:solidFill>
                  <a:srgbClr val="11283F"/>
                </a:solidFill>
              </a:defRPr>
            </a:lvl5pPr>
            <a:lvl6pPr>
              <a:defRPr sz="2400" b="0">
                <a:solidFill>
                  <a:srgbClr val="11283F"/>
                </a:solidFill>
              </a:defRPr>
            </a:lvl6pPr>
            <a:lvl7pPr>
              <a:defRPr sz="2400" b="0">
                <a:solidFill>
                  <a:srgbClr val="11283F"/>
                </a:solidFill>
              </a:defRPr>
            </a:lvl7pPr>
            <a:lvl8pPr>
              <a:defRPr sz="2400" b="0">
                <a:solidFill>
                  <a:srgbClr val="11283F"/>
                </a:solidFill>
              </a:defRPr>
            </a:lvl8pPr>
            <a:lvl9pPr>
              <a:defRPr sz="2400" b="0">
                <a:solidFill>
                  <a:srgbClr val="11283F"/>
                </a:solidFill>
              </a:defRPr>
            </a:lvl9pPr>
          </a:lstStyle>
          <a:p xmlns:a="http://schemas.openxmlformats.org/drawingml/2006/main">
            <a:pPr>
              <a:defRPr sz="2400" b="0">
                <a:solidFill>
                  <a:srgbClr val="11283F"/>
                </a:solidFill>
              </a:defRPr>
            </a:pPr>
            <a:r>
              <a:rPr sz="2400" b="0">
                <a:solidFill>
                  <a:srgbClr val="11283F"/>
                </a:solidFill>
              </a:rPr>
              <a:t>Timing of historical inputs needs a field-level audit</a:t>
            </a:r>
          </a:p>
        </p:txBody>
      </p:sp>
      <p:sp>
        <p:nvSpPr>
          <p:cNvPr id="5" name="">
            <a:extLst xmlns:a="http://schemas.openxmlformats.org/drawingml/2006/main">
              <a:ext uri="{FF2B5EF4-FFF2-40B4-BE49-F238E27FC236}">
                <a16:creationId xmlns:a16="http://schemas.microsoft.com/office/drawing/2014/main" id="{BCA25CE2-C714-45B1-BD7A-94020CF6F208}"/>
              </a:ext>
            </a:extLst>
          </p:cNvPr>
          <p:cNvSpPr>
            <a:spLocks xmlns:a="http://schemas.openxmlformats.org/drawingml/2006/main" noGrp="1"/>
          </p:cNvSpPr>
          <p:nvPr/>
        </p:nvSpPr>
        <p:spPr>
          <a:xfrm xmlns:a="http://schemas.openxmlformats.org/drawingml/2006/main">
            <a:off x="685800" y="30480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1283F"/>
                </a:solidFill>
              </a:defRPr>
            </a:defPPr>
            <a:lvl1pPr>
              <a:defRPr sz="2400" b="0">
                <a:solidFill>
                  <a:srgbClr val="11283F"/>
                </a:solidFill>
              </a:defRPr>
            </a:lvl1pPr>
            <a:lvl2pPr>
              <a:defRPr sz="2400" b="0">
                <a:solidFill>
                  <a:srgbClr val="11283F"/>
                </a:solidFill>
              </a:defRPr>
            </a:lvl2pPr>
            <a:lvl3pPr>
              <a:defRPr sz="2400" b="0">
                <a:solidFill>
                  <a:srgbClr val="11283F"/>
                </a:solidFill>
              </a:defRPr>
            </a:lvl3pPr>
            <a:lvl4pPr>
              <a:defRPr sz="2400" b="0">
                <a:solidFill>
                  <a:srgbClr val="11283F"/>
                </a:solidFill>
              </a:defRPr>
            </a:lvl4pPr>
            <a:lvl5pPr>
              <a:defRPr sz="2400" b="0">
                <a:solidFill>
                  <a:srgbClr val="11283F"/>
                </a:solidFill>
              </a:defRPr>
            </a:lvl5pPr>
            <a:lvl6pPr>
              <a:defRPr sz="2400" b="0">
                <a:solidFill>
                  <a:srgbClr val="11283F"/>
                </a:solidFill>
              </a:defRPr>
            </a:lvl6pPr>
            <a:lvl7pPr>
              <a:defRPr sz="2400" b="0">
                <a:solidFill>
                  <a:srgbClr val="11283F"/>
                </a:solidFill>
              </a:defRPr>
            </a:lvl7pPr>
            <a:lvl8pPr>
              <a:defRPr sz="2400" b="0">
                <a:solidFill>
                  <a:srgbClr val="11283F"/>
                </a:solidFill>
              </a:defRPr>
            </a:lvl8pPr>
            <a:lvl9pPr>
              <a:defRPr sz="2400" b="0">
                <a:solidFill>
                  <a:srgbClr val="11283F"/>
                </a:solidFill>
              </a:defRPr>
            </a:lvl9pPr>
          </a:lstStyle>
          <a:p xmlns:a="http://schemas.openxmlformats.org/drawingml/2006/main">
            <a:pPr>
              <a:defRPr sz="2400" b="0">
                <a:solidFill>
                  <a:srgbClr val="11283F"/>
                </a:solidFill>
              </a:defRPr>
            </a:pPr>
            <a:r>
              <a:rPr sz="2400" b="0">
                <a:solidFill>
                  <a:srgbClr val="11283F"/>
                </a:solidFill>
              </a:rPr>
              <a:t>F1 threshold does not optimize lending profit</a:t>
            </a:r>
          </a:p>
        </p:txBody>
      </p:sp>
      <p:sp>
        <p:nvSpPr>
          <p:cNvPr id="6" name="">
            <a:extLst xmlns:a="http://schemas.openxmlformats.org/drawingml/2006/main">
              <a:ext uri="{FF2B5EF4-FFF2-40B4-BE49-F238E27FC236}">
                <a16:creationId xmlns:a16="http://schemas.microsoft.com/office/drawing/2014/main" id="{E21FCD4C-65EA-448C-B5D2-A12DD481FCA3}"/>
              </a:ext>
            </a:extLst>
          </p:cNvPr>
          <p:cNvSpPr>
            <a:spLocks xmlns:a="http://schemas.openxmlformats.org/drawingml/2006/main" noGrp="1"/>
          </p:cNvSpPr>
          <p:nvPr/>
        </p:nvSpPr>
        <p:spPr>
          <a:xfrm xmlns:a="http://schemas.openxmlformats.org/drawingml/2006/main">
            <a:off x="685800" y="40005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1283F"/>
                </a:solidFill>
              </a:defRPr>
            </a:defPPr>
            <a:lvl1pPr>
              <a:defRPr sz="2400" b="0">
                <a:solidFill>
                  <a:srgbClr val="11283F"/>
                </a:solidFill>
              </a:defRPr>
            </a:lvl1pPr>
            <a:lvl2pPr>
              <a:defRPr sz="2400" b="0">
                <a:solidFill>
                  <a:srgbClr val="11283F"/>
                </a:solidFill>
              </a:defRPr>
            </a:lvl2pPr>
            <a:lvl3pPr>
              <a:defRPr sz="2400" b="0">
                <a:solidFill>
                  <a:srgbClr val="11283F"/>
                </a:solidFill>
              </a:defRPr>
            </a:lvl3pPr>
            <a:lvl4pPr>
              <a:defRPr sz="2400" b="0">
                <a:solidFill>
                  <a:srgbClr val="11283F"/>
                </a:solidFill>
              </a:defRPr>
            </a:lvl4pPr>
            <a:lvl5pPr>
              <a:defRPr sz="2400" b="0">
                <a:solidFill>
                  <a:srgbClr val="11283F"/>
                </a:solidFill>
              </a:defRPr>
            </a:lvl5pPr>
            <a:lvl6pPr>
              <a:defRPr sz="2400" b="0">
                <a:solidFill>
                  <a:srgbClr val="11283F"/>
                </a:solidFill>
              </a:defRPr>
            </a:lvl6pPr>
            <a:lvl7pPr>
              <a:defRPr sz="2400" b="0">
                <a:solidFill>
                  <a:srgbClr val="11283F"/>
                </a:solidFill>
              </a:defRPr>
            </a:lvl7pPr>
            <a:lvl8pPr>
              <a:defRPr sz="2400" b="0">
                <a:solidFill>
                  <a:srgbClr val="11283F"/>
                </a:solidFill>
              </a:defRPr>
            </a:lvl8pPr>
            <a:lvl9pPr>
              <a:defRPr sz="2400" b="0">
                <a:solidFill>
                  <a:srgbClr val="11283F"/>
                </a:solidFill>
              </a:defRPr>
            </a:lvl9pPr>
          </a:lstStyle>
          <a:p xmlns:a="http://schemas.openxmlformats.org/drawingml/2006/main">
            <a:pPr>
              <a:defRPr sz="2400" b="0">
                <a:solidFill>
                  <a:srgbClr val="11283F"/>
                </a:solidFill>
              </a:defRPr>
            </a:pPr>
            <a:r>
              <a:rPr sz="2400" b="0">
                <a:solidFill>
                  <a:srgbClr val="11283F"/>
                </a:solidFill>
              </a:rPr>
              <a:t>Next: probability calibration and a cost-based policy</a:t>
            </a:r>
          </a:p>
        </p:txBody>
      </p:sp>
      <p:sp>
        <p:nvSpPr>
          <p:cNvPr id="7" name="">
            <a:extLst xmlns:a="http://schemas.openxmlformats.org/drawingml/2006/main">
              <a:ext uri="{FF2B5EF4-FFF2-40B4-BE49-F238E27FC236}">
                <a16:creationId xmlns:a16="http://schemas.microsoft.com/office/drawing/2014/main" id="{4A202FEB-9DDF-40EC-AF68-ADFCDA63DC20}"/>
              </a:ext>
            </a:extLst>
          </p:cNvPr>
          <p:cNvSpPr>
            <a:spLocks xmlns:a="http://schemas.openxmlformats.org/drawingml/2006/main" noGrp="1"/>
          </p:cNvSpPr>
          <p:nvPr/>
        </p:nvSpPr>
        <p:spPr>
          <a:xfrm xmlns:a="http://schemas.openxmlformats.org/drawingml/2006/main">
            <a:off x="685800" y="54292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3"/>
                </a:solidFill>
              </a:defRPr>
            </a:defPPr>
            <a:lvl1pPr>
              <a:defRPr sz="2025" b="1">
                <a:solidFill>
                  <a:srgbClr val="087E83"/>
                </a:solidFill>
              </a:defRPr>
            </a:lvl1pPr>
            <a:lvl2pPr>
              <a:defRPr sz="2025" b="1">
                <a:solidFill>
                  <a:srgbClr val="087E83"/>
                </a:solidFill>
              </a:defRPr>
            </a:lvl2pPr>
            <a:lvl3pPr>
              <a:defRPr sz="2025" b="1">
                <a:solidFill>
                  <a:srgbClr val="087E83"/>
                </a:solidFill>
              </a:defRPr>
            </a:lvl3pPr>
            <a:lvl4pPr>
              <a:defRPr sz="2025" b="1">
                <a:solidFill>
                  <a:srgbClr val="087E83"/>
                </a:solidFill>
              </a:defRPr>
            </a:lvl4pPr>
            <a:lvl5pPr>
              <a:defRPr sz="2025" b="1">
                <a:solidFill>
                  <a:srgbClr val="087E83"/>
                </a:solidFill>
              </a:defRPr>
            </a:lvl5pPr>
            <a:lvl6pPr>
              <a:defRPr sz="2025" b="1">
                <a:solidFill>
                  <a:srgbClr val="087E83"/>
                </a:solidFill>
              </a:defRPr>
            </a:lvl6pPr>
            <a:lvl7pPr>
              <a:defRPr sz="2025" b="1">
                <a:solidFill>
                  <a:srgbClr val="087E83"/>
                </a:solidFill>
              </a:defRPr>
            </a:lvl7pPr>
            <a:lvl8pPr>
              <a:defRPr sz="2025" b="1">
                <a:solidFill>
                  <a:srgbClr val="087E83"/>
                </a:solidFill>
              </a:defRPr>
            </a:lvl8pPr>
            <a:lvl9pPr>
              <a:defRPr sz="2025" b="1">
                <a:solidFill>
                  <a:srgbClr val="087E83"/>
                </a:solidFill>
              </a:defRPr>
            </a:lvl9pPr>
          </a:lstStyle>
          <a:p xmlns:a="http://schemas.openxmlformats.org/drawingml/2006/main">
            <a:pPr>
              <a:defRPr sz="2025" b="1">
                <a:solidFill>
                  <a:srgbClr val="087E83"/>
                </a:solidFill>
              </a:defRPr>
            </a:pPr>
            <a:r>
              <a:rPr sz="2025" b="1">
                <a:solidFill>
                  <a:srgbClr val="087E83"/>
                </a:solidFill>
              </a:rPr>
              <a:t>github.com/Xyphorial/home-credit-default-prediction</a:t>
            </a:r>
          </a:p>
        </p:txBody>
      </p:sp>
    </p:spTree>
    <p:extLst>
      <p:ext uri="{BB962C8B-B14F-4D97-AF65-F5344CB8AC3E}">
        <p14:creationId xmlns:p14="http://schemas.microsoft.com/office/powerpoint/2010/main" val="1097196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2026-10-21T16:31:04.3330000Z</dcterms:created>
  <dcterms:modified xsi:type="dcterms:W3CDTF">2026-10-21T16:31:04.3340000Z</dcterms:modified>
</coreProperties>
</file>